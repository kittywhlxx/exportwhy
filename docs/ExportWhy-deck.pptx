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5B6470"/>
                </a:solidFill>
              </a:rPr>
              <a:t>Distinct sensitive-column reads, 13 synthetic alerts</a:t>
            </a:r>
          </a:p>
        </c:rich>
      </c:tx>
      <c:layout/>
      <c:overlay val="0"/>
    </c:title>
    <c:autoTitleDeleted val="0"/>
    <c:plotArea>
      <c:barChart>
        <c:barDir val="col"/>
        <c:grouping val="clustered"/>
        <c:ser>
          <c:idx val="0"/>
          <c:order val="0"/>
          <c:tx>
            <c:strRef>
              <c:f>Sheet1!$B$1</c:f>
              <c:strCache>
                <c:ptCount val="1"/>
                <c:pt idx="0">
                  <c:v>sensitive-column reads</c:v>
                </c:pt>
              </c:strCache>
            </c:strRef>
          </c:tx>
          <c:dPt>
            <c:idx val="0"/>
            <c:spPr>
              <a:solidFill>
                <a:srgbClr val="DDE3EA"/>
              </a:solidFill>
            </c:spPr>
          </c:dPt>
          <c:dPt>
            <c:idx val="1"/>
            <c:spPr>
              <a:solidFill>
                <a:srgbClr val="1FA463"/>
              </a:solidFill>
            </c:spPr>
          </c:dPt>
          <c:cat>
            <c:strRef>
              <c:f>Sheet1!$A$2:$A$3</c:f>
              <c:strCache>
                <c:ptCount val="2"/>
                <c:pt idx="0">
                  <c:v>naive planner</c:v>
                </c:pt>
                <c:pt idx="1">
                  <c:v>ExportWhy</c:v>
                </c:pt>
              </c:strCache>
            </c:strRef>
          </c:cat>
          <c:val>
            <c:numRef>
              <c:f>Sheet1!$B$2:$B$3</c:f>
              <c:numCache>
                <c:formatCode>General</c:formatCode>
                <c:ptCount val="2"/>
                <c:pt idx="0">
                  <c:v>113</c:v>
                </c:pt>
                <c:pt idx="1">
                  <c:v>5</c:v>
                </c:pt>
              </c:numCache>
            </c:numRef>
          </c:val>
        </c:ser>
        <c:dLbls>
          <c:txPr>
            <a:bodyPr/>
            <a:lstStyle/>
            <a:p>
              <a:pPr>
                <a:defRPr sz="16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DE3EA"/>
            </a:solidFill>
          </a:ln>
        </c:spPr>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product through what the analyst receives: an investigation they can inspect and act on. No company name: the product is the name.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Authorisation requires matching the account, dataset, volume and validity window to the actual export. A ticket that exists and is approved is not, on its own, proof that it covers this export.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ExportWhy supports the investigation. Closing the alert and taking action remain the analyst's responsibility. Analyst time saved, missed uncovered exports and willingness to pay are not measured yet; they are the pilot targets on slide 12,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job the analyst already does by hand. The capability column is what the agent does; the last column is what lands in front of the analyst.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analyst's reading order: the Why panel says why the ticket does not cover the export, the ticket line under it carries the citation, Next checks says what to do and who. Do not tour the controls.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 parts is new on its own; the combination, running as one investigation, is the point. Do not say nobody does this. The constrained-review choice is motivated by Alert-Bench (NeurIPS 2026 AIWILD workshop): in the agent configurations it benchmarked, a revision stage overturned more correct decisions than it repaired.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evidence enters through Zetaris first; then the verdict and the report are formed. Web information is not used to determine export authorisation.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combination working in one investigation: cross-source checks, evidence requests, constrained model review and traceable reporting. The rules check the authorisation conditions; the model gives a second opinion and helps write the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customer value is checking facts that live apart, and following the query record back to the basis. This implements the organiser's grounding pattern: query Zetaris for the facts first, then produce an answer that can be traced back to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component backs a feature the user can see: remembering history, keeping corrections, reviewing the explanation. Offline runs use a deterministic stub for the second opinion and the Critic, labelled (stub) in the report; the model's part is shown on the recorded live runs.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establish behaviour within the tested scenarios; ground truth is generated with the data, so 156/156 measures consistency, not real-world detection. Customer impact is the next validation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one-liner. Phase two items are targets, not results: nothing in the pilot list is measured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188720"/>
            <a:ext cx="5852160" cy="914400"/>
          </a:xfrm>
          <a:prstGeom prst="rect">
            <a:avLst/>
          </a:prstGeom>
          <a:noFill/>
        </p:spPr>
        <p:txBody>
          <a:bodyPr wrap="square" lIns="0" rIns="0" tIns="0" bIns="0" anchor="t">
            <a:spAutoFit/>
          </a:bodyPr>
          <a:lstStyle/>
          <a:p>
            <a:pPr algn="l"/>
            <a:r>
              <a:rPr sz="6000" b="1" i="0">
                <a:solidFill>
                  <a:srgbClr val="FFFFFF"/>
                </a:solidFill>
                <a:latin typeface="Calibri"/>
              </a:rPr>
              <a:t>ExportWhy</a:t>
            </a:r>
          </a:p>
        </p:txBody>
      </p:sp>
      <p:sp>
        <p:nvSpPr>
          <p:cNvPr id="4" name="TextBox 3"/>
          <p:cNvSpPr txBox="1"/>
          <p:nvPr/>
        </p:nvSpPr>
        <p:spPr>
          <a:xfrm>
            <a:off x="731520" y="2148840"/>
            <a:ext cx="5669280" cy="1280160"/>
          </a:xfrm>
          <a:prstGeom prst="rect">
            <a:avLst/>
          </a:prstGeom>
          <a:noFill/>
        </p:spPr>
        <p:txBody>
          <a:bodyPr wrap="square" lIns="0" rIns="0" tIns="0" bIns="0" anchor="t">
            <a:spAutoFit/>
          </a:bodyPr>
          <a:lstStyle/>
          <a:p>
            <a:pPr algn="l"/>
            <a:r>
              <a:rPr sz="2400" b="0" i="0">
                <a:solidFill>
                  <a:srgbClr val="CADCFC"/>
                </a:solidFill>
                <a:latin typeface="Calibri"/>
              </a:rPr>
              <a:t>Was this data export authorised?
The investigation, with its evidence.</a:t>
            </a:r>
          </a:p>
        </p:txBody>
      </p:sp>
      <p:sp>
        <p:nvSpPr>
          <p:cNvPr id="5" name="Oval 4"/>
          <p:cNvSpPr/>
          <p:nvPr/>
        </p:nvSpPr>
        <p:spPr>
          <a:xfrm>
            <a:off x="731520" y="3749039"/>
            <a:ext cx="548640" cy="548640"/>
          </a:xfrm>
          <a:prstGeom prst="ellipse">
            <a:avLst/>
          </a:prstGeom>
          <a:solidFill>
            <a:srgbClr val="3B5F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6" name="TextBox 5"/>
          <p:cNvSpPr txBox="1"/>
          <p:nvPr/>
        </p:nvSpPr>
        <p:spPr>
          <a:xfrm>
            <a:off x="1371600" y="3749039"/>
            <a:ext cx="1280160" cy="548640"/>
          </a:xfrm>
          <a:prstGeom prst="rect">
            <a:avLst/>
          </a:prstGeom>
          <a:noFill/>
        </p:spPr>
        <p:txBody>
          <a:bodyPr wrap="square" lIns="0" rIns="0" tIns="0" bIns="0" anchor="ctr">
            <a:spAutoFit/>
          </a:bodyPr>
          <a:lstStyle/>
          <a:p>
            <a:pPr algn="l"/>
            <a:r>
              <a:rPr sz="1300" b="0" i="0">
                <a:solidFill>
                  <a:srgbClr val="CADCFC"/>
                </a:solidFill>
                <a:latin typeface="Calibri"/>
              </a:rPr>
              <a:t>export log</a:t>
            </a:r>
          </a:p>
        </p:txBody>
      </p:sp>
      <p:sp>
        <p:nvSpPr>
          <p:cNvPr id="7" name="Oval 6"/>
          <p:cNvSpPr/>
          <p:nvPr/>
        </p:nvSpPr>
        <p:spPr>
          <a:xfrm>
            <a:off x="2560320" y="3749039"/>
            <a:ext cx="548640" cy="548640"/>
          </a:xfrm>
          <a:prstGeom prst="ellipse">
            <a:avLst/>
          </a:prstGeom>
          <a:solidFill>
            <a:srgbClr val="3B5F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8" name="TextBox 7"/>
          <p:cNvSpPr txBox="1"/>
          <p:nvPr/>
        </p:nvSpPr>
        <p:spPr>
          <a:xfrm>
            <a:off x="3200400" y="3749039"/>
            <a:ext cx="1280160" cy="548640"/>
          </a:xfrm>
          <a:prstGeom prst="rect">
            <a:avLst/>
          </a:prstGeom>
          <a:noFill/>
        </p:spPr>
        <p:txBody>
          <a:bodyPr wrap="square" lIns="0" rIns="0" tIns="0" bIns="0" anchor="ctr">
            <a:spAutoFit/>
          </a:bodyPr>
          <a:lstStyle/>
          <a:p>
            <a:pPr algn="l"/>
            <a:r>
              <a:rPr sz="1300" b="0" i="0">
                <a:solidFill>
                  <a:srgbClr val="CADCFC"/>
                </a:solidFill>
                <a:latin typeface="Calibri"/>
              </a:rPr>
              <a:t>access policy</a:t>
            </a:r>
          </a:p>
        </p:txBody>
      </p:sp>
      <p:sp>
        <p:nvSpPr>
          <p:cNvPr id="9" name="Oval 8"/>
          <p:cNvSpPr/>
          <p:nvPr/>
        </p:nvSpPr>
        <p:spPr>
          <a:xfrm>
            <a:off x="4389120" y="3749039"/>
            <a:ext cx="548640" cy="548640"/>
          </a:xfrm>
          <a:prstGeom prst="ellipse">
            <a:avLst/>
          </a:prstGeom>
          <a:solidFill>
            <a:srgbClr val="3B5F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0" name="TextBox 9"/>
          <p:cNvSpPr txBox="1"/>
          <p:nvPr/>
        </p:nvSpPr>
        <p:spPr>
          <a:xfrm>
            <a:off x="5029200" y="3749039"/>
            <a:ext cx="1280160" cy="548640"/>
          </a:xfrm>
          <a:prstGeom prst="rect">
            <a:avLst/>
          </a:prstGeom>
          <a:noFill/>
        </p:spPr>
        <p:txBody>
          <a:bodyPr wrap="square" lIns="0" rIns="0" tIns="0" bIns="0" anchor="ctr">
            <a:spAutoFit/>
          </a:bodyPr>
          <a:lstStyle/>
          <a:p>
            <a:pPr algn="l"/>
            <a:r>
              <a:rPr sz="1300" b="0" i="0">
                <a:solidFill>
                  <a:srgbClr val="CADCFC"/>
                </a:solidFill>
                <a:latin typeface="Calibri"/>
              </a:rPr>
              <a:t>approval tickets</a:t>
            </a:r>
          </a:p>
        </p:txBody>
      </p:sp>
      <p:sp>
        <p:nvSpPr>
          <p:cNvPr id="11" name="TextBox 10"/>
          <p:cNvSpPr txBox="1"/>
          <p:nvPr/>
        </p:nvSpPr>
        <p:spPr>
          <a:xfrm>
            <a:off x="731520" y="4663440"/>
            <a:ext cx="5852160" cy="731520"/>
          </a:xfrm>
          <a:prstGeom prst="rect">
            <a:avLst/>
          </a:prstGeom>
          <a:noFill/>
        </p:spPr>
        <p:txBody>
          <a:bodyPr wrap="square" lIns="0" rIns="0" tIns="0" bIns="0" anchor="t">
            <a:spAutoFit/>
          </a:bodyPr>
          <a:lstStyle/>
          <a:p>
            <a:pPr algn="l"/>
            <a:r>
              <a:rPr sz="1400" b="0" i="0">
                <a:solidFill>
                  <a:srgbClr val="CADCFC"/>
                </a:solidFill>
                <a:latin typeface="Calibri"/>
              </a:rPr>
              <a:t>Verdict · cited evidence · conflicts · what could not be confirmed · next checks</a:t>
            </a:r>
          </a:p>
        </p:txBody>
      </p:sp>
      <p:sp>
        <p:nvSpPr>
          <p:cNvPr id="12" name="Rounded Rectangle 11"/>
          <p:cNvSpPr/>
          <p:nvPr/>
        </p:nvSpPr>
        <p:spPr>
          <a:xfrm>
            <a:off x="6629400" y="1234440"/>
            <a:ext cx="5029200" cy="305746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rop-al004-760-220-3040-1536.png"/>
          <p:cNvPicPr>
            <a:picLocks noChangeAspect="1"/>
          </p:cNvPicPr>
          <p:nvPr/>
        </p:nvPicPr>
        <p:blipFill>
          <a:blip r:embed="rId2"/>
          <a:stretch>
            <a:fillRect/>
          </a:stretch>
        </p:blipFill>
        <p:spPr>
          <a:xfrm>
            <a:off x="6812280" y="1417320"/>
            <a:ext cx="4663440" cy="2691704"/>
          </a:xfrm>
          <a:prstGeom prst="rect">
            <a:avLst/>
          </a:prstGeom>
        </p:spPr>
      </p:pic>
      <p:sp>
        <p:nvSpPr>
          <p:cNvPr id="14" name="TextBox 13"/>
          <p:cNvSpPr txBox="1"/>
          <p:nvPr/>
        </p:nvSpPr>
        <p:spPr>
          <a:xfrm>
            <a:off x="731520" y="6126480"/>
            <a:ext cx="10972800" cy="365760"/>
          </a:xfrm>
          <a:prstGeom prst="rect">
            <a:avLst/>
          </a:prstGeom>
          <a:noFill/>
        </p:spPr>
        <p:txBody>
          <a:bodyPr wrap="square" lIns="0" rIns="0" tIns="0" bIns="0" anchor="t">
            <a:spAutoFit/>
          </a:bodyPr>
          <a:lstStyle/>
          <a:p>
            <a:pPr algn="l"/>
            <a:r>
              <a:rPr sz="1200" b="0" i="0">
                <a:solidFill>
                  <a:srgbClr val="8FA6C4"/>
                </a:solidFill>
                <a:latin typeface="Calibri"/>
              </a:rPr>
              <a:t>Open Agent Hackathon 2026 · Track 2: The Agent That Can Explain Why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5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FFFFFF"/>
                </a:solidFill>
                <a:latin typeface="Calibri"/>
              </a:rPr>
              <a:t>An approved ticket does not necessarily cover the export</a:t>
            </a:r>
          </a:p>
        </p:txBody>
      </p:sp>
      <p:sp>
        <p:nvSpPr>
          <p:cNvPr id="4" name="Rounded Rectangle 3"/>
          <p:cNvSpPr/>
          <p:nvPr/>
        </p:nvSpPr>
        <p:spPr>
          <a:xfrm>
            <a:off x="548640" y="1325880"/>
            <a:ext cx="5486400" cy="4480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5029200" cy="365760"/>
          </a:xfrm>
          <a:prstGeom prst="rect">
            <a:avLst/>
          </a:prstGeom>
          <a:noFill/>
        </p:spPr>
        <p:txBody>
          <a:bodyPr wrap="square" lIns="0" rIns="0" tIns="0" bIns="0" anchor="t">
            <a:spAutoFit/>
          </a:bodyPr>
          <a:lstStyle/>
          <a:p>
            <a:pPr algn="l"/>
            <a:r>
              <a:rPr sz="1300" b="0" i="0">
                <a:solidFill>
                  <a:srgbClr val="5B6470"/>
                </a:solidFill>
                <a:latin typeface="Calibri"/>
              </a:rPr>
              <a:t>03:30 · account u1012 · payment data · external bucket</a:t>
            </a:r>
          </a:p>
        </p:txBody>
      </p:sp>
      <p:sp>
        <p:nvSpPr>
          <p:cNvPr id="6" name="TextBox 5"/>
          <p:cNvSpPr txBox="1"/>
          <p:nvPr/>
        </p:nvSpPr>
        <p:spPr>
          <a:xfrm>
            <a:off x="960120" y="2039112"/>
            <a:ext cx="2194560" cy="685800"/>
          </a:xfrm>
          <a:prstGeom prst="rect">
            <a:avLst/>
          </a:prstGeom>
          <a:noFill/>
        </p:spPr>
        <p:txBody>
          <a:bodyPr wrap="square" lIns="0" rIns="0" tIns="0" bIns="0" anchor="ctr">
            <a:spAutoFit/>
          </a:bodyPr>
          <a:lstStyle/>
          <a:p>
            <a:pPr algn="l"/>
            <a:r>
              <a:rPr sz="4800" b="1" i="0">
                <a:solidFill>
                  <a:srgbClr val="D7412E"/>
                </a:solidFill>
                <a:latin typeface="Calibri"/>
              </a:rPr>
              <a:t>48,000</a:t>
            </a:r>
          </a:p>
        </p:txBody>
      </p:sp>
      <p:sp>
        <p:nvSpPr>
          <p:cNvPr id="7" name="TextBox 6"/>
          <p:cNvSpPr txBox="1"/>
          <p:nvPr/>
        </p:nvSpPr>
        <p:spPr>
          <a:xfrm>
            <a:off x="960120" y="2715768"/>
            <a:ext cx="2194560" cy="320040"/>
          </a:xfrm>
          <a:prstGeom prst="rect">
            <a:avLst/>
          </a:prstGeom>
          <a:noFill/>
        </p:spPr>
        <p:txBody>
          <a:bodyPr wrap="square" lIns="0" rIns="0" tIns="0" bIns="0" anchor="t">
            <a:spAutoFit/>
          </a:bodyPr>
          <a:lstStyle/>
          <a:p>
            <a:pPr algn="l"/>
            <a:r>
              <a:rPr sz="1200" b="0" i="0">
                <a:solidFill>
                  <a:srgbClr val="5B6470"/>
                </a:solidFill>
                <a:latin typeface="Calibri"/>
              </a:rPr>
              <a:t>rows exported</a:t>
            </a:r>
          </a:p>
        </p:txBody>
      </p:sp>
      <p:sp>
        <p:nvSpPr>
          <p:cNvPr id="8" name="TextBox 7"/>
          <p:cNvSpPr txBox="1"/>
          <p:nvPr/>
        </p:nvSpPr>
        <p:spPr>
          <a:xfrm>
            <a:off x="3246120" y="2148840"/>
            <a:ext cx="548640" cy="731520"/>
          </a:xfrm>
          <a:prstGeom prst="rect">
            <a:avLst/>
          </a:prstGeom>
          <a:noFill/>
        </p:spPr>
        <p:txBody>
          <a:bodyPr wrap="square" lIns="0" rIns="0" tIns="0" bIns="0" anchor="ctr">
            <a:spAutoFit/>
          </a:bodyPr>
          <a:lstStyle/>
          <a:p>
            <a:pPr algn="ctr"/>
            <a:r>
              <a:rPr sz="2000" b="0" i="0">
                <a:solidFill>
                  <a:srgbClr val="5B6470"/>
                </a:solidFill>
                <a:latin typeface="Calibri"/>
              </a:rPr>
              <a:t>vs</a:t>
            </a:r>
          </a:p>
        </p:txBody>
      </p:sp>
      <p:sp>
        <p:nvSpPr>
          <p:cNvPr id="9" name="TextBox 8"/>
          <p:cNvSpPr txBox="1"/>
          <p:nvPr/>
        </p:nvSpPr>
        <p:spPr>
          <a:xfrm>
            <a:off x="3840480" y="2039112"/>
            <a:ext cx="1920240" cy="685800"/>
          </a:xfrm>
          <a:prstGeom prst="rect">
            <a:avLst/>
          </a:prstGeom>
          <a:noFill/>
        </p:spPr>
        <p:txBody>
          <a:bodyPr wrap="square" lIns="0" rIns="0" tIns="0" bIns="0" anchor="ctr">
            <a:spAutoFit/>
          </a:bodyPr>
          <a:lstStyle/>
          <a:p>
            <a:pPr algn="l"/>
            <a:r>
              <a:rPr sz="4800" b="1" i="0">
                <a:solidFill>
                  <a:srgbClr val="1F3A5F"/>
                </a:solidFill>
                <a:latin typeface="Calibri"/>
              </a:rPr>
              <a:t>5,000</a:t>
            </a:r>
          </a:p>
        </p:txBody>
      </p:sp>
      <p:sp>
        <p:nvSpPr>
          <p:cNvPr id="10" name="TextBox 9"/>
          <p:cNvSpPr txBox="1"/>
          <p:nvPr/>
        </p:nvSpPr>
        <p:spPr>
          <a:xfrm>
            <a:off x="3840480" y="2715768"/>
            <a:ext cx="1920240" cy="320040"/>
          </a:xfrm>
          <a:prstGeom prst="rect">
            <a:avLst/>
          </a:prstGeom>
          <a:noFill/>
        </p:spPr>
        <p:txBody>
          <a:bodyPr wrap="square" lIns="0" rIns="0" tIns="0" bIns="0" anchor="t">
            <a:spAutoFit/>
          </a:bodyPr>
          <a:lstStyle/>
          <a:p>
            <a:pPr algn="l"/>
            <a:r>
              <a:rPr sz="1200" b="0" i="0">
                <a:solidFill>
                  <a:srgbClr val="5B6470"/>
                </a:solidFill>
                <a:latin typeface="Calibri"/>
              </a:rPr>
              <a:t>rows approved by T-2629</a:t>
            </a:r>
          </a:p>
        </p:txBody>
      </p:sp>
      <p:sp>
        <p:nvSpPr>
          <p:cNvPr id="11" name="Oval 10"/>
          <p:cNvSpPr/>
          <p:nvPr/>
        </p:nvSpPr>
        <p:spPr>
          <a:xfrm>
            <a:off x="822960" y="3429000"/>
            <a:ext cx="457200" cy="457200"/>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2" name="TextBox 11"/>
          <p:cNvSpPr txBox="1"/>
          <p:nvPr/>
        </p:nvSpPr>
        <p:spPr>
          <a:xfrm>
            <a:off x="1417320" y="3429000"/>
            <a:ext cx="4480560" cy="457200"/>
          </a:xfrm>
          <a:prstGeom prst="rect">
            <a:avLst/>
          </a:prstGeom>
          <a:noFill/>
        </p:spPr>
        <p:txBody>
          <a:bodyPr wrap="square" lIns="0" rIns="0" tIns="0" bIns="0" anchor="ctr">
            <a:spAutoFit/>
          </a:bodyPr>
          <a:lstStyle/>
          <a:p>
            <a:pPr algn="l"/>
            <a:r>
              <a:rPr sz="1500" b="0" i="0">
                <a:solidFill>
                  <a:srgbClr val="1C1F24"/>
                </a:solidFill>
                <a:latin typeface="Calibri"/>
              </a:rPr>
              <a:t>The ticket is genuine and approved</a:t>
            </a:r>
          </a:p>
        </p:txBody>
      </p:sp>
      <p:sp>
        <p:nvSpPr>
          <p:cNvPr id="13" name="Oval 12"/>
          <p:cNvSpPr/>
          <p:nvPr/>
        </p:nvSpPr>
        <p:spPr>
          <a:xfrm>
            <a:off x="822960" y="4069080"/>
            <a:ext cx="457200" cy="457200"/>
          </a:xfrm>
          <a:prstGeom prst="ellipse">
            <a:avLst/>
          </a:prstGeom>
          <a:solidFill>
            <a:srgbClr val="D741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4" name="TextBox 13"/>
          <p:cNvSpPr txBox="1"/>
          <p:nvPr/>
        </p:nvSpPr>
        <p:spPr>
          <a:xfrm>
            <a:off x="1417320" y="4069080"/>
            <a:ext cx="4480560" cy="457200"/>
          </a:xfrm>
          <a:prstGeom prst="rect">
            <a:avLst/>
          </a:prstGeom>
          <a:noFill/>
        </p:spPr>
        <p:txBody>
          <a:bodyPr wrap="square" lIns="0" rIns="0" tIns="0" bIns="0" anchor="ctr">
            <a:spAutoFit/>
          </a:bodyPr>
          <a:lstStyle/>
          <a:p>
            <a:pPr algn="l"/>
            <a:r>
              <a:rPr sz="1500" b="1" i="0">
                <a:solidFill>
                  <a:srgbClr val="1C1F24"/>
                </a:solidFill>
                <a:latin typeface="Calibri"/>
              </a:rPr>
              <a:t>It covers one tenth of what was exported</a:t>
            </a:r>
          </a:p>
        </p:txBody>
      </p:sp>
      <p:sp>
        <p:nvSpPr>
          <p:cNvPr id="15" name="TextBox 14"/>
          <p:cNvSpPr txBox="1"/>
          <p:nvPr/>
        </p:nvSpPr>
        <p:spPr>
          <a:xfrm>
            <a:off x="822960" y="4800600"/>
            <a:ext cx="5029200" cy="822960"/>
          </a:xfrm>
          <a:prstGeom prst="rect">
            <a:avLst/>
          </a:prstGeom>
          <a:noFill/>
        </p:spPr>
        <p:txBody>
          <a:bodyPr wrap="square" lIns="0" rIns="0" tIns="0" bIns="0" anchor="t">
            <a:spAutoFit/>
          </a:bodyPr>
          <a:lstStyle/>
          <a:p>
            <a:pPr algn="l"/>
            <a:r>
              <a:rPr sz="1300" b="0" i="0">
                <a:solidFill>
                  <a:srgbClr val="5B6470"/>
                </a:solidFill>
                <a:latin typeface="Calibri"/>
              </a:rPr>
              <a:t>Finding that out means lining up three records that do not know about each other.</a:t>
            </a:r>
          </a:p>
        </p:txBody>
      </p:sp>
      <p:sp>
        <p:nvSpPr>
          <p:cNvPr id="16" name="Can 15"/>
          <p:cNvSpPr/>
          <p:nvPr/>
        </p:nvSpPr>
        <p:spPr>
          <a:xfrm>
            <a:off x="6903720" y="1645920"/>
            <a:ext cx="914400" cy="100584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59" y="2724912"/>
            <a:ext cx="1645920" cy="457200"/>
          </a:xfrm>
          <a:prstGeom prst="rect">
            <a:avLst/>
          </a:prstGeom>
          <a:noFill/>
        </p:spPr>
        <p:txBody>
          <a:bodyPr wrap="square" lIns="0" rIns="0" tIns="0" bIns="0" anchor="t">
            <a:spAutoFit/>
          </a:bodyPr>
          <a:lstStyle/>
          <a:p>
            <a:pPr algn="ctr"/>
            <a:r>
              <a:rPr sz="1200" b="1" i="0">
                <a:solidFill>
                  <a:srgbClr val="FFFFFF"/>
                </a:solidFill>
                <a:latin typeface="Calibri"/>
              </a:rPr>
              <a:t>Export log</a:t>
            </a:r>
          </a:p>
        </p:txBody>
      </p:sp>
      <p:sp>
        <p:nvSpPr>
          <p:cNvPr id="18" name="TextBox 17"/>
          <p:cNvSpPr txBox="1"/>
          <p:nvPr/>
        </p:nvSpPr>
        <p:spPr>
          <a:xfrm>
            <a:off x="6492240" y="3063240"/>
            <a:ext cx="1737360" cy="365760"/>
          </a:xfrm>
          <a:prstGeom prst="rect">
            <a:avLst/>
          </a:prstGeom>
          <a:noFill/>
        </p:spPr>
        <p:txBody>
          <a:bodyPr wrap="square" lIns="0" rIns="0" tIns="0" bIns="0" anchor="t">
            <a:spAutoFit/>
          </a:bodyPr>
          <a:lstStyle/>
          <a:p>
            <a:pPr algn="ctr"/>
            <a:r>
              <a:rPr sz="1200" b="0" i="0">
                <a:solidFill>
                  <a:srgbClr val="FFE3DE"/>
                </a:solidFill>
                <a:latin typeface="Calibri"/>
              </a:rPr>
              <a:t>what happened</a:t>
            </a:r>
          </a:p>
        </p:txBody>
      </p:sp>
      <p:sp>
        <p:nvSpPr>
          <p:cNvPr id="19" name="Can 18"/>
          <p:cNvSpPr/>
          <p:nvPr/>
        </p:nvSpPr>
        <p:spPr>
          <a:xfrm>
            <a:off x="8732519" y="1645920"/>
            <a:ext cx="914400" cy="100584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59" y="2724912"/>
            <a:ext cx="1645920" cy="457200"/>
          </a:xfrm>
          <a:prstGeom prst="rect">
            <a:avLst/>
          </a:prstGeom>
          <a:noFill/>
        </p:spPr>
        <p:txBody>
          <a:bodyPr wrap="square" lIns="0" rIns="0" tIns="0" bIns="0" anchor="t">
            <a:spAutoFit/>
          </a:bodyPr>
          <a:lstStyle/>
          <a:p>
            <a:pPr algn="ctr"/>
            <a:r>
              <a:rPr sz="1200" b="1" i="0">
                <a:solidFill>
                  <a:srgbClr val="FFFFFF"/>
                </a:solidFill>
                <a:latin typeface="Calibri"/>
              </a:rPr>
              <a:t>Access policy</a:t>
            </a:r>
          </a:p>
        </p:txBody>
      </p:sp>
      <p:sp>
        <p:nvSpPr>
          <p:cNvPr id="21" name="TextBox 20"/>
          <p:cNvSpPr txBox="1"/>
          <p:nvPr/>
        </p:nvSpPr>
        <p:spPr>
          <a:xfrm>
            <a:off x="8321040" y="3063240"/>
            <a:ext cx="1737360" cy="365760"/>
          </a:xfrm>
          <a:prstGeom prst="rect">
            <a:avLst/>
          </a:prstGeom>
          <a:noFill/>
        </p:spPr>
        <p:txBody>
          <a:bodyPr wrap="square" lIns="0" rIns="0" tIns="0" bIns="0" anchor="t">
            <a:spAutoFit/>
          </a:bodyPr>
          <a:lstStyle/>
          <a:p>
            <a:pPr algn="ctr"/>
            <a:r>
              <a:rPr sz="1200" b="0" i="0">
                <a:solidFill>
                  <a:srgbClr val="FFE3DE"/>
                </a:solidFill>
                <a:latin typeface="Calibri"/>
              </a:rPr>
              <a:t>what is allowed</a:t>
            </a:r>
          </a:p>
        </p:txBody>
      </p:sp>
      <p:sp>
        <p:nvSpPr>
          <p:cNvPr id="22" name="Can 21"/>
          <p:cNvSpPr/>
          <p:nvPr/>
        </p:nvSpPr>
        <p:spPr>
          <a:xfrm>
            <a:off x="10561319" y="1645920"/>
            <a:ext cx="914400" cy="100584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95559" y="2724912"/>
            <a:ext cx="1645920" cy="457200"/>
          </a:xfrm>
          <a:prstGeom prst="rect">
            <a:avLst/>
          </a:prstGeom>
          <a:noFill/>
        </p:spPr>
        <p:txBody>
          <a:bodyPr wrap="square" lIns="0" rIns="0" tIns="0" bIns="0" anchor="t">
            <a:spAutoFit/>
          </a:bodyPr>
          <a:lstStyle/>
          <a:p>
            <a:pPr algn="ctr"/>
            <a:r>
              <a:rPr sz="1200" b="1" i="0">
                <a:solidFill>
                  <a:srgbClr val="FFFFFF"/>
                </a:solidFill>
                <a:latin typeface="Calibri"/>
              </a:rPr>
              <a:t>Approval tickets</a:t>
            </a:r>
          </a:p>
        </p:txBody>
      </p:sp>
      <p:sp>
        <p:nvSpPr>
          <p:cNvPr id="24" name="TextBox 23"/>
          <p:cNvSpPr txBox="1"/>
          <p:nvPr/>
        </p:nvSpPr>
        <p:spPr>
          <a:xfrm>
            <a:off x="10149840" y="3063240"/>
            <a:ext cx="1737360" cy="365760"/>
          </a:xfrm>
          <a:prstGeom prst="rect">
            <a:avLst/>
          </a:prstGeom>
          <a:noFill/>
        </p:spPr>
        <p:txBody>
          <a:bodyPr wrap="square" lIns="0" rIns="0" tIns="0" bIns="0" anchor="t">
            <a:spAutoFit/>
          </a:bodyPr>
          <a:lstStyle/>
          <a:p>
            <a:pPr algn="ctr"/>
            <a:r>
              <a:rPr sz="1200" b="0" i="0">
                <a:solidFill>
                  <a:srgbClr val="FFE3DE"/>
                </a:solidFill>
                <a:latin typeface="Calibri"/>
              </a:rPr>
              <a:t>what was approved</a:t>
            </a:r>
          </a:p>
        </p:txBody>
      </p:sp>
      <p:sp>
        <p:nvSpPr>
          <p:cNvPr id="25" name="TextBox 24"/>
          <p:cNvSpPr txBox="1"/>
          <p:nvPr/>
        </p:nvSpPr>
        <p:spPr>
          <a:xfrm>
            <a:off x="7909560" y="1965960"/>
            <a:ext cx="548640" cy="365760"/>
          </a:xfrm>
          <a:prstGeom prst="rect">
            <a:avLst/>
          </a:prstGeom>
          <a:noFill/>
        </p:spPr>
        <p:txBody>
          <a:bodyPr wrap="square" lIns="0" rIns="0" tIns="0" bIns="0" anchor="t">
            <a:spAutoFit/>
          </a:bodyPr>
          <a:lstStyle/>
          <a:p>
            <a:pPr algn="ctr"/>
            <a:r>
              <a:rPr sz="2200" b="1" i="0">
                <a:solidFill>
                  <a:srgbClr val="FFFFFF"/>
                </a:solidFill>
                <a:latin typeface="Calibri"/>
              </a:rPr>
              <a:t>×</a:t>
            </a:r>
          </a:p>
        </p:txBody>
      </p:sp>
      <p:sp>
        <p:nvSpPr>
          <p:cNvPr id="26" name="TextBox 25"/>
          <p:cNvSpPr txBox="1"/>
          <p:nvPr/>
        </p:nvSpPr>
        <p:spPr>
          <a:xfrm>
            <a:off x="9738360" y="1965960"/>
            <a:ext cx="548640" cy="365760"/>
          </a:xfrm>
          <a:prstGeom prst="rect">
            <a:avLst/>
          </a:prstGeom>
          <a:noFill/>
        </p:spPr>
        <p:txBody>
          <a:bodyPr wrap="square" lIns="0" rIns="0" tIns="0" bIns="0" anchor="t">
            <a:spAutoFit/>
          </a:bodyPr>
          <a:lstStyle/>
          <a:p>
            <a:pPr algn="ctr"/>
            <a:r>
              <a:rPr sz="2200" b="1" i="0">
                <a:solidFill>
                  <a:srgbClr val="FFFFFF"/>
                </a:solidFill>
                <a:latin typeface="Calibri"/>
              </a:rPr>
              <a:t>×</a:t>
            </a:r>
          </a:p>
        </p:txBody>
      </p:sp>
      <p:sp>
        <p:nvSpPr>
          <p:cNvPr id="27" name="Down Arrow 26"/>
          <p:cNvSpPr/>
          <p:nvPr/>
        </p:nvSpPr>
        <p:spPr>
          <a:xfrm>
            <a:off x="9006840" y="3566160"/>
            <a:ext cx="457200" cy="548640"/>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778240" y="429768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85D4A"/>
                </a:solidFill>
                <a:latin typeface="Calibri"/>
              </a:rPr>
              <a:t>A</a:t>
            </a:r>
          </a:p>
        </p:txBody>
      </p:sp>
      <p:sp>
        <p:nvSpPr>
          <p:cNvPr id="29" name="TextBox 28"/>
          <p:cNvSpPr txBox="1"/>
          <p:nvPr/>
        </p:nvSpPr>
        <p:spPr>
          <a:xfrm>
            <a:off x="6492240" y="5349240"/>
            <a:ext cx="5394960" cy="457200"/>
          </a:xfrm>
          <a:prstGeom prst="rect">
            <a:avLst/>
          </a:prstGeom>
          <a:noFill/>
        </p:spPr>
        <p:txBody>
          <a:bodyPr wrap="square" lIns="0" rIns="0" tIns="0" bIns="0" anchor="t">
            <a:spAutoFit/>
          </a:bodyPr>
          <a:lstStyle/>
          <a:p>
            <a:pPr algn="ctr"/>
            <a:r>
              <a:rPr sz="1300" b="0" i="0">
                <a:solidFill>
                  <a:srgbClr val="FFFFFF"/>
                </a:solidFill>
                <a:latin typeface="Calibri"/>
              </a:rPr>
              <a:t>the analyst, for every alert, by hand</a:t>
            </a:r>
          </a:p>
        </p:txBody>
      </p:sp>
      <p:sp>
        <p:nvSpPr>
          <p:cNvPr id="30" name="TextBox 29"/>
          <p:cNvSpPr txBox="1"/>
          <p:nvPr/>
        </p:nvSpPr>
        <p:spPr>
          <a:xfrm>
            <a:off x="548640" y="6355080"/>
            <a:ext cx="11064240" cy="320040"/>
          </a:xfrm>
          <a:prstGeom prst="rect">
            <a:avLst/>
          </a:prstGeom>
          <a:noFill/>
        </p:spPr>
        <p:txBody>
          <a:bodyPr wrap="square" lIns="0" rIns="0" tIns="0" bIns="0" anchor="ctr">
            <a:spAutoFit/>
          </a:bodyPr>
          <a:lstStyle/>
          <a:p>
            <a:pPr algn="l"/>
            <a:r>
              <a:rPr sz="1000" b="0" i="0">
                <a:solidFill>
                  <a:srgbClr val="FFFFFF"/>
                </a:solidFill>
                <a:latin typeface="Calibri"/>
              </a:rPr>
              <a:t>Synthetic demonstration scenario AL-004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1C1F24"/>
                </a:solidFill>
                <a:latin typeface="Calibri"/>
              </a:rPr>
              <a:t>Built for the analyst deciding what happens next</a:t>
            </a:r>
          </a:p>
        </p:txBody>
      </p:sp>
      <p:sp>
        <p:nvSpPr>
          <p:cNvPr id="4" name="Rounded Rectangle 3"/>
          <p:cNvSpPr/>
          <p:nvPr/>
        </p:nvSpPr>
        <p:spPr>
          <a:xfrm>
            <a:off x="548640" y="1325880"/>
            <a:ext cx="3931920" cy="2103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554480"/>
            <a:ext cx="502920" cy="502920"/>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6" name="TextBox 5"/>
          <p:cNvSpPr txBox="1"/>
          <p:nvPr/>
        </p:nvSpPr>
        <p:spPr>
          <a:xfrm>
            <a:off x="1417320" y="1554480"/>
            <a:ext cx="2926080" cy="502920"/>
          </a:xfrm>
          <a:prstGeom prst="rect">
            <a:avLst/>
          </a:prstGeom>
          <a:noFill/>
        </p:spPr>
        <p:txBody>
          <a:bodyPr wrap="square" lIns="0" rIns="0" tIns="0" bIns="0" anchor="ctr">
            <a:spAutoFit/>
          </a:bodyPr>
          <a:lstStyle/>
          <a:p>
            <a:pPr algn="l"/>
            <a:r>
              <a:rPr sz="1600" b="1" i="0">
                <a:solidFill>
                  <a:srgbClr val="1C1F24"/>
                </a:solidFill>
                <a:latin typeface="Calibri"/>
              </a:rPr>
              <a:t>Target customers</a:t>
            </a:r>
          </a:p>
        </p:txBody>
      </p:sp>
      <p:sp>
        <p:nvSpPr>
          <p:cNvPr id="7" name="TextBox 6"/>
          <p:cNvSpPr txBox="1"/>
          <p:nvPr/>
        </p:nvSpPr>
        <p:spPr>
          <a:xfrm>
            <a:off x="777240" y="2194560"/>
            <a:ext cx="3520440" cy="1188720"/>
          </a:xfrm>
          <a:prstGeom prst="rect">
            <a:avLst/>
          </a:prstGeom>
          <a:noFill/>
        </p:spPr>
        <p:txBody>
          <a:bodyPr wrap="square" lIns="0" rIns="0" tIns="0" bIns="0" anchor="t">
            <a:spAutoFit/>
          </a:bodyPr>
          <a:lstStyle/>
          <a:p>
            <a:pPr algn="l"/>
            <a:r>
              <a:rPr sz="1300" b="0" i="0">
                <a:solidFill>
                  <a:srgbClr val="5B6470"/>
                </a:solidFill>
                <a:latin typeface="Calibri"/>
              </a:rPr>
              <a:t>Security operations and data-protection teams with export alerts, access policies and ticketed approvals</a:t>
            </a:r>
          </a:p>
        </p:txBody>
      </p:sp>
      <p:sp>
        <p:nvSpPr>
          <p:cNvPr id="8" name="Rounded Rectangle 7"/>
          <p:cNvSpPr/>
          <p:nvPr/>
        </p:nvSpPr>
        <p:spPr>
          <a:xfrm>
            <a:off x="548640" y="3611880"/>
            <a:ext cx="3931920" cy="2103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3840480"/>
            <a:ext cx="502920" cy="502920"/>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a:t>
            </a:r>
          </a:p>
        </p:txBody>
      </p:sp>
      <p:sp>
        <p:nvSpPr>
          <p:cNvPr id="10" name="TextBox 9"/>
          <p:cNvSpPr txBox="1"/>
          <p:nvPr/>
        </p:nvSpPr>
        <p:spPr>
          <a:xfrm>
            <a:off x="1417320" y="3840480"/>
            <a:ext cx="2926080" cy="502920"/>
          </a:xfrm>
          <a:prstGeom prst="rect">
            <a:avLst/>
          </a:prstGeom>
          <a:noFill/>
        </p:spPr>
        <p:txBody>
          <a:bodyPr wrap="square" lIns="0" rIns="0" tIns="0" bIns="0" anchor="ctr">
            <a:spAutoFit/>
          </a:bodyPr>
          <a:lstStyle/>
          <a:p>
            <a:pPr algn="l"/>
            <a:r>
              <a:rPr sz="1600" b="1" i="0">
                <a:solidFill>
                  <a:srgbClr val="1C1F24"/>
                </a:solidFill>
                <a:latin typeface="Calibri"/>
              </a:rPr>
              <a:t>Primary user</a:t>
            </a:r>
          </a:p>
        </p:txBody>
      </p:sp>
      <p:sp>
        <p:nvSpPr>
          <p:cNvPr id="11" name="TextBox 10"/>
          <p:cNvSpPr txBox="1"/>
          <p:nvPr/>
        </p:nvSpPr>
        <p:spPr>
          <a:xfrm>
            <a:off x="777240" y="4480560"/>
            <a:ext cx="3520440" cy="1188720"/>
          </a:xfrm>
          <a:prstGeom prst="rect">
            <a:avLst/>
          </a:prstGeom>
          <a:noFill/>
        </p:spPr>
        <p:txBody>
          <a:bodyPr wrap="square" lIns="0" rIns="0" tIns="0" bIns="0" anchor="t">
            <a:spAutoFit/>
          </a:bodyPr>
          <a:lstStyle/>
          <a:p>
            <a:pPr algn="l"/>
            <a:r>
              <a:rPr sz="1300" b="0" i="0">
                <a:solidFill>
                  <a:srgbClr val="5B6470"/>
                </a:solidFill>
                <a:latin typeface="Calibri"/>
              </a:rPr>
              <a:t>The analyst investigating DLP or insider-risk alerts. Closing the alert stays their call.</a:t>
            </a:r>
          </a:p>
        </p:txBody>
      </p:sp>
      <p:sp>
        <p:nvSpPr>
          <p:cNvPr id="12" name="TextBox 11"/>
          <p:cNvSpPr txBox="1"/>
          <p:nvPr/>
        </p:nvSpPr>
        <p:spPr>
          <a:xfrm>
            <a:off x="4937760" y="1325880"/>
            <a:ext cx="6675120" cy="320040"/>
          </a:xfrm>
          <a:prstGeom prst="rect">
            <a:avLst/>
          </a:prstGeom>
          <a:noFill/>
        </p:spPr>
        <p:txBody>
          <a:bodyPr wrap="square" lIns="0" rIns="0" tIns="0" bIns="0" anchor="t">
            <a:spAutoFit/>
          </a:bodyPr>
          <a:lstStyle/>
          <a:p>
            <a:pPr algn="l"/>
            <a:r>
              <a:rPr sz="1100" b="1" i="0">
                <a:solidFill>
                  <a:srgbClr val="1C1F24"/>
                </a:solidFill>
                <a:latin typeface="Calibri"/>
              </a:rPr>
              <a:t>THE ANALYST'S JOB</a:t>
            </a:r>
          </a:p>
        </p:txBody>
      </p:sp>
      <p:sp>
        <p:nvSpPr>
          <p:cNvPr id="13" name="Rounded Rectangle 12"/>
          <p:cNvSpPr/>
          <p:nvPr/>
        </p:nvSpPr>
        <p:spPr>
          <a:xfrm>
            <a:off x="4937760" y="1783080"/>
            <a:ext cx="6675120" cy="868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120640" y="1965960"/>
            <a:ext cx="502920" cy="502920"/>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5" name="TextBox 14"/>
          <p:cNvSpPr txBox="1"/>
          <p:nvPr/>
        </p:nvSpPr>
        <p:spPr>
          <a:xfrm>
            <a:off x="5806440" y="1892807"/>
            <a:ext cx="5669280" cy="320040"/>
          </a:xfrm>
          <a:prstGeom prst="rect">
            <a:avLst/>
          </a:prstGeom>
          <a:noFill/>
        </p:spPr>
        <p:txBody>
          <a:bodyPr wrap="square" lIns="0" rIns="0" tIns="0" bIns="0" anchor="t">
            <a:spAutoFit/>
          </a:bodyPr>
          <a:lstStyle/>
          <a:p>
            <a:pPr algn="l"/>
            <a:r>
              <a:rPr sz="1500" b="1" i="0">
                <a:solidFill>
                  <a:srgbClr val="1C1F24"/>
                </a:solidFill>
                <a:latin typeface="Calibri"/>
              </a:rPr>
              <a:t>Check authorisation</a:t>
            </a:r>
          </a:p>
        </p:txBody>
      </p:sp>
      <p:sp>
        <p:nvSpPr>
          <p:cNvPr id="16" name="TextBox 15"/>
          <p:cNvSpPr txBox="1"/>
          <p:nvPr/>
        </p:nvSpPr>
        <p:spPr>
          <a:xfrm>
            <a:off x="5806440" y="2221991"/>
            <a:ext cx="5669280" cy="365760"/>
          </a:xfrm>
          <a:prstGeom prst="rect">
            <a:avLst/>
          </a:prstGeom>
          <a:noFill/>
        </p:spPr>
        <p:txBody>
          <a:bodyPr wrap="square" lIns="0" rIns="0" tIns="0" bIns="0" anchor="t">
            <a:spAutoFit/>
          </a:bodyPr>
          <a:lstStyle/>
          <a:p>
            <a:pPr algn="l"/>
            <a:r>
              <a:rPr sz="1200" b="0" i="0">
                <a:solidFill>
                  <a:srgbClr val="5B6470"/>
                </a:solidFill>
                <a:latin typeface="Calibri"/>
              </a:rPr>
              <a:t>Does the approval cover this account, dataset, volume and time?</a:t>
            </a:r>
          </a:p>
        </p:txBody>
      </p:sp>
      <p:sp>
        <p:nvSpPr>
          <p:cNvPr id="17" name="Rounded Rectangle 16"/>
          <p:cNvSpPr/>
          <p:nvPr/>
        </p:nvSpPr>
        <p:spPr>
          <a:xfrm>
            <a:off x="4937760" y="2788920"/>
            <a:ext cx="6675120" cy="868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20640" y="2971800"/>
            <a:ext cx="502920" cy="502920"/>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9" name="TextBox 18"/>
          <p:cNvSpPr txBox="1"/>
          <p:nvPr/>
        </p:nvSpPr>
        <p:spPr>
          <a:xfrm>
            <a:off x="5806440" y="2898648"/>
            <a:ext cx="5669280" cy="320040"/>
          </a:xfrm>
          <a:prstGeom prst="rect">
            <a:avLst/>
          </a:prstGeom>
          <a:noFill/>
        </p:spPr>
        <p:txBody>
          <a:bodyPr wrap="square" lIns="0" rIns="0" tIns="0" bIns="0" anchor="t">
            <a:spAutoFit/>
          </a:bodyPr>
          <a:lstStyle/>
          <a:p>
            <a:pPr algn="l"/>
            <a:r>
              <a:rPr sz="1500" b="1" i="0">
                <a:solidFill>
                  <a:srgbClr val="1C1F24"/>
                </a:solidFill>
                <a:latin typeface="Calibri"/>
              </a:rPr>
              <a:t>Assess evidence</a:t>
            </a:r>
          </a:p>
        </p:txBody>
      </p:sp>
      <p:sp>
        <p:nvSpPr>
          <p:cNvPr id="20" name="TextBox 19"/>
          <p:cNvSpPr txBox="1"/>
          <p:nvPr/>
        </p:nvSpPr>
        <p:spPr>
          <a:xfrm>
            <a:off x="5806440" y="3227832"/>
            <a:ext cx="5669280" cy="365760"/>
          </a:xfrm>
          <a:prstGeom prst="rect">
            <a:avLst/>
          </a:prstGeom>
          <a:noFill/>
        </p:spPr>
        <p:txBody>
          <a:bodyPr wrap="square" lIns="0" rIns="0" tIns="0" bIns="0" anchor="t">
            <a:spAutoFit/>
          </a:bodyPr>
          <a:lstStyle/>
          <a:p>
            <a:pPr algn="l"/>
            <a:r>
              <a:rPr sz="1200" b="0" i="0">
                <a:solidFill>
                  <a:srgbClr val="5B6470"/>
                </a:solidFill>
                <a:latin typeface="Calibri"/>
              </a:rPr>
              <a:t>Is the export uncovered, or is evidence still missing?</a:t>
            </a:r>
          </a:p>
        </p:txBody>
      </p:sp>
      <p:sp>
        <p:nvSpPr>
          <p:cNvPr id="21" name="Rounded Rectangle 20"/>
          <p:cNvSpPr/>
          <p:nvPr/>
        </p:nvSpPr>
        <p:spPr>
          <a:xfrm>
            <a:off x="4937760" y="3794760"/>
            <a:ext cx="6675120" cy="868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120640" y="3977640"/>
            <a:ext cx="502920" cy="502920"/>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23" name="TextBox 22"/>
          <p:cNvSpPr txBox="1"/>
          <p:nvPr/>
        </p:nvSpPr>
        <p:spPr>
          <a:xfrm>
            <a:off x="5806440" y="3904488"/>
            <a:ext cx="5669280" cy="320040"/>
          </a:xfrm>
          <a:prstGeom prst="rect">
            <a:avLst/>
          </a:prstGeom>
          <a:noFill/>
        </p:spPr>
        <p:txBody>
          <a:bodyPr wrap="square" lIns="0" rIns="0" tIns="0" bIns="0" anchor="t">
            <a:spAutoFit/>
          </a:bodyPr>
          <a:lstStyle/>
          <a:p>
            <a:pPr algn="l"/>
            <a:r>
              <a:rPr sz="1500" b="1" i="0">
                <a:solidFill>
                  <a:srgbClr val="1C1F24"/>
                </a:solidFill>
                <a:latin typeface="Calibri"/>
              </a:rPr>
              <a:t>Choose the next action</a:t>
            </a:r>
          </a:p>
        </p:txBody>
      </p:sp>
      <p:sp>
        <p:nvSpPr>
          <p:cNvPr id="24" name="TextBox 23"/>
          <p:cNvSpPr txBox="1"/>
          <p:nvPr/>
        </p:nvSpPr>
        <p:spPr>
          <a:xfrm>
            <a:off x="5806440" y="4233672"/>
            <a:ext cx="5669280" cy="365760"/>
          </a:xfrm>
          <a:prstGeom prst="rect">
            <a:avLst/>
          </a:prstGeom>
          <a:noFill/>
        </p:spPr>
        <p:txBody>
          <a:bodyPr wrap="square" lIns="0" rIns="0" tIns="0" bIns="0" anchor="t">
            <a:spAutoFit/>
          </a:bodyPr>
          <a:lstStyle/>
          <a:p>
            <a:pPr algn="l"/>
            <a:r>
              <a:rPr sz="1200" b="0" i="0">
                <a:solidFill>
                  <a:srgbClr val="5B6470"/>
                </a:solidFill>
                <a:latin typeface="Calibri"/>
              </a:rPr>
              <a:t>Investigate further, collect evidence or request human review?</a:t>
            </a:r>
          </a:p>
        </p:txBody>
      </p:sp>
      <p:sp>
        <p:nvSpPr>
          <p:cNvPr id="25" name="Rounded Rectangle 24"/>
          <p:cNvSpPr/>
          <p:nvPr/>
        </p:nvSpPr>
        <p:spPr>
          <a:xfrm>
            <a:off x="4937760" y="4800600"/>
            <a:ext cx="6675120" cy="868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120640" y="4983480"/>
            <a:ext cx="502920" cy="502920"/>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27" name="TextBox 26"/>
          <p:cNvSpPr txBox="1"/>
          <p:nvPr/>
        </p:nvSpPr>
        <p:spPr>
          <a:xfrm>
            <a:off x="5806440" y="4910328"/>
            <a:ext cx="5669280" cy="320040"/>
          </a:xfrm>
          <a:prstGeom prst="rect">
            <a:avLst/>
          </a:prstGeom>
          <a:noFill/>
        </p:spPr>
        <p:txBody>
          <a:bodyPr wrap="square" lIns="0" rIns="0" tIns="0" bIns="0" anchor="t">
            <a:spAutoFit/>
          </a:bodyPr>
          <a:lstStyle/>
          <a:p>
            <a:pPr algn="l"/>
            <a:r>
              <a:rPr sz="1500" b="1" i="0">
                <a:solidFill>
                  <a:srgbClr val="1C1F24"/>
                </a:solidFill>
                <a:latin typeface="Calibri"/>
              </a:rPr>
              <a:t>Support later review</a:t>
            </a:r>
          </a:p>
        </p:txBody>
      </p:sp>
      <p:sp>
        <p:nvSpPr>
          <p:cNvPr id="28" name="TextBox 27"/>
          <p:cNvSpPr txBox="1"/>
          <p:nvPr/>
        </p:nvSpPr>
        <p:spPr>
          <a:xfrm>
            <a:off x="5806440" y="5239512"/>
            <a:ext cx="5669280" cy="365760"/>
          </a:xfrm>
          <a:prstGeom prst="rect">
            <a:avLst/>
          </a:prstGeom>
          <a:noFill/>
        </p:spPr>
        <p:txBody>
          <a:bodyPr wrap="square" lIns="0" rIns="0" tIns="0" bIns="0" anchor="t">
            <a:spAutoFit/>
          </a:bodyPr>
          <a:lstStyle/>
          <a:p>
            <a:pPr algn="l"/>
            <a:r>
              <a:rPr sz="1200" b="0" i="0">
                <a:solidFill>
                  <a:srgbClr val="5B6470"/>
                </a:solidFill>
                <a:latin typeface="Calibri"/>
              </a:rPr>
              <a:t>Can another person inspect the evidence behind the finding?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1C1F24"/>
                </a:solidFill>
                <a:latin typeface="Calibri"/>
              </a:rPr>
              <a:t>From investigation tasks to usable findings</a:t>
            </a:r>
          </a:p>
        </p:txBody>
      </p:sp>
      <p:sp>
        <p:nvSpPr>
          <p:cNvPr id="4" name="TextBox 3"/>
          <p:cNvSpPr txBox="1"/>
          <p:nvPr/>
        </p:nvSpPr>
        <p:spPr>
          <a:xfrm>
            <a:off x="1234440" y="1280160"/>
            <a:ext cx="3474720" cy="320040"/>
          </a:xfrm>
          <a:prstGeom prst="rect">
            <a:avLst/>
          </a:prstGeom>
          <a:noFill/>
        </p:spPr>
        <p:txBody>
          <a:bodyPr wrap="square" lIns="0" rIns="0" tIns="0" bIns="0" anchor="t">
            <a:spAutoFit/>
          </a:bodyPr>
          <a:lstStyle/>
          <a:p>
            <a:pPr algn="l"/>
            <a:r>
              <a:rPr sz="1100" b="1" i="0">
                <a:solidFill>
                  <a:srgbClr val="1C1F24"/>
                </a:solidFill>
                <a:latin typeface="Calibri"/>
              </a:rPr>
              <a:t>CUSTOMER TASK</a:t>
            </a:r>
          </a:p>
        </p:txBody>
      </p:sp>
      <p:sp>
        <p:nvSpPr>
          <p:cNvPr id="5" name="TextBox 4"/>
          <p:cNvSpPr txBox="1"/>
          <p:nvPr/>
        </p:nvSpPr>
        <p:spPr>
          <a:xfrm>
            <a:off x="4846320" y="1280160"/>
            <a:ext cx="3474720" cy="320040"/>
          </a:xfrm>
          <a:prstGeom prst="rect">
            <a:avLst/>
          </a:prstGeom>
          <a:noFill/>
        </p:spPr>
        <p:txBody>
          <a:bodyPr wrap="square" lIns="0" rIns="0" tIns="0" bIns="0" anchor="t">
            <a:spAutoFit/>
          </a:bodyPr>
          <a:lstStyle/>
          <a:p>
            <a:pPr algn="l"/>
            <a:r>
              <a:rPr sz="1100" b="1" i="0">
                <a:solidFill>
                  <a:srgbClr val="1C1F24"/>
                </a:solidFill>
                <a:latin typeface="Calibri"/>
              </a:rPr>
              <a:t>EXPORTWHY CAPABILITY</a:t>
            </a:r>
          </a:p>
        </p:txBody>
      </p:sp>
      <p:sp>
        <p:nvSpPr>
          <p:cNvPr id="6" name="TextBox 5"/>
          <p:cNvSpPr txBox="1"/>
          <p:nvPr/>
        </p:nvSpPr>
        <p:spPr>
          <a:xfrm>
            <a:off x="8458200" y="1280160"/>
            <a:ext cx="3474720" cy="320040"/>
          </a:xfrm>
          <a:prstGeom prst="rect">
            <a:avLst/>
          </a:prstGeom>
          <a:noFill/>
        </p:spPr>
        <p:txBody>
          <a:bodyPr wrap="square" lIns="0" rIns="0" tIns="0" bIns="0" anchor="t">
            <a:spAutoFit/>
          </a:bodyPr>
          <a:lstStyle/>
          <a:p>
            <a:pPr algn="l"/>
            <a:r>
              <a:rPr sz="1100" b="1" i="0">
                <a:solidFill>
                  <a:srgbClr val="1C1F24"/>
                </a:solidFill>
                <a:latin typeface="Calibri"/>
              </a:rPr>
              <a:t>WHAT THE ANALYST RECEIVES</a:t>
            </a:r>
          </a:p>
        </p:txBody>
      </p:sp>
      <p:sp>
        <p:nvSpPr>
          <p:cNvPr id="7" name="Rounded Rectangle 6"/>
          <p:cNvSpPr/>
          <p:nvPr/>
        </p:nvSpPr>
        <p:spPr>
          <a:xfrm>
            <a:off x="548640" y="1691640"/>
            <a:ext cx="11064240" cy="74980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3232" y="1819656"/>
            <a:ext cx="475488" cy="475488"/>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9" name="TextBox 8"/>
          <p:cNvSpPr txBox="1"/>
          <p:nvPr/>
        </p:nvSpPr>
        <p:spPr>
          <a:xfrm>
            <a:off x="1234440" y="1691640"/>
            <a:ext cx="3474720" cy="749808"/>
          </a:xfrm>
          <a:prstGeom prst="rect">
            <a:avLst/>
          </a:prstGeom>
          <a:noFill/>
        </p:spPr>
        <p:txBody>
          <a:bodyPr wrap="square" lIns="0" rIns="0" tIns="0" bIns="0" anchor="ctr">
            <a:spAutoFit/>
          </a:bodyPr>
          <a:lstStyle/>
          <a:p>
            <a:pPr algn="l"/>
            <a:r>
              <a:rPr sz="1400" b="1" i="0">
                <a:solidFill>
                  <a:srgbClr val="1C1F24"/>
                </a:solidFill>
                <a:latin typeface="Calibri"/>
              </a:rPr>
              <a:t>Check approval scope</a:t>
            </a:r>
          </a:p>
        </p:txBody>
      </p:sp>
      <p:sp>
        <p:nvSpPr>
          <p:cNvPr id="10" name="TextBox 9"/>
          <p:cNvSpPr txBox="1"/>
          <p:nvPr/>
        </p:nvSpPr>
        <p:spPr>
          <a:xfrm>
            <a:off x="4846320" y="1691640"/>
            <a:ext cx="3474720" cy="749808"/>
          </a:xfrm>
          <a:prstGeom prst="rect">
            <a:avLst/>
          </a:prstGeom>
          <a:noFill/>
        </p:spPr>
        <p:txBody>
          <a:bodyPr wrap="square" lIns="0" rIns="0" tIns="0" bIns="0" anchor="ctr">
            <a:spAutoFit/>
          </a:bodyPr>
          <a:lstStyle/>
          <a:p>
            <a:pPr algn="l"/>
            <a:r>
              <a:rPr sz="1300" b="0" i="0">
                <a:solidFill>
                  <a:srgbClr val="1C1F24"/>
                </a:solidFill>
                <a:latin typeface="Calibri"/>
              </a:rPr>
              <a:t>Compare account, dataset, volume, time, status</a:t>
            </a:r>
          </a:p>
        </p:txBody>
      </p:sp>
      <p:sp>
        <p:nvSpPr>
          <p:cNvPr id="11" name="TextBox 10"/>
          <p:cNvSpPr txBox="1"/>
          <p:nvPr/>
        </p:nvSpPr>
        <p:spPr>
          <a:xfrm>
            <a:off x="8458200" y="1691640"/>
            <a:ext cx="3017520" cy="749808"/>
          </a:xfrm>
          <a:prstGeom prst="rect">
            <a:avLst/>
          </a:prstGeom>
          <a:noFill/>
        </p:spPr>
        <p:txBody>
          <a:bodyPr wrap="square" lIns="0" rIns="0" tIns="0" bIns="0" anchor="ctr">
            <a:spAutoFit/>
          </a:bodyPr>
          <a:lstStyle/>
          <a:p>
            <a:pPr algn="l"/>
            <a:r>
              <a:rPr sz="1300" b="1" i="0">
                <a:solidFill>
                  <a:srgbClr val="1F3A5F"/>
                </a:solidFill>
                <a:latin typeface="Calibri"/>
              </a:rPr>
              <a:t>Matches and conflicts</a:t>
            </a:r>
          </a:p>
        </p:txBody>
      </p:sp>
      <p:sp>
        <p:nvSpPr>
          <p:cNvPr id="12" name="Rounded Rectangle 11"/>
          <p:cNvSpPr/>
          <p:nvPr/>
        </p:nvSpPr>
        <p:spPr>
          <a:xfrm>
            <a:off x="548640" y="2560320"/>
            <a:ext cx="11064240" cy="74980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2688336"/>
            <a:ext cx="475488" cy="475488"/>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14" name="TextBox 13"/>
          <p:cNvSpPr txBox="1"/>
          <p:nvPr/>
        </p:nvSpPr>
        <p:spPr>
          <a:xfrm>
            <a:off x="1234440" y="2560320"/>
            <a:ext cx="3474720" cy="749808"/>
          </a:xfrm>
          <a:prstGeom prst="rect">
            <a:avLst/>
          </a:prstGeom>
          <a:noFill/>
        </p:spPr>
        <p:txBody>
          <a:bodyPr wrap="square" lIns="0" rIns="0" tIns="0" bIns="0" anchor="ctr">
            <a:spAutoFit/>
          </a:bodyPr>
          <a:lstStyle/>
          <a:p>
            <a:pPr algn="l"/>
            <a:r>
              <a:rPr sz="1400" b="1" i="0">
                <a:solidFill>
                  <a:srgbClr val="1C1F24"/>
                </a:solidFill>
                <a:latin typeface="Calibri"/>
              </a:rPr>
              <a:t>Continue when the ticket fails</a:t>
            </a:r>
          </a:p>
        </p:txBody>
      </p:sp>
      <p:sp>
        <p:nvSpPr>
          <p:cNvPr id="15" name="TextBox 14"/>
          <p:cNvSpPr txBox="1"/>
          <p:nvPr/>
        </p:nvSpPr>
        <p:spPr>
          <a:xfrm>
            <a:off x="4846320" y="2560320"/>
            <a:ext cx="3474720" cy="749808"/>
          </a:xfrm>
          <a:prstGeom prst="rect">
            <a:avLst/>
          </a:prstGeom>
          <a:noFill/>
        </p:spPr>
        <p:txBody>
          <a:bodyPr wrap="square" lIns="0" rIns="0" tIns="0" bIns="0" anchor="ctr">
            <a:spAutoFit/>
          </a:bodyPr>
          <a:lstStyle/>
          <a:p>
            <a:pPr algn="l"/>
            <a:r>
              <a:rPr sz="1300" b="0" i="0">
                <a:solidFill>
                  <a:srgbClr val="1C1F24"/>
                </a:solidFill>
                <a:latin typeface="Calibri"/>
              </a:rPr>
              <a:t>Search other tickets and standing exceptions</a:t>
            </a:r>
          </a:p>
        </p:txBody>
      </p:sp>
      <p:sp>
        <p:nvSpPr>
          <p:cNvPr id="16" name="TextBox 15"/>
          <p:cNvSpPr txBox="1"/>
          <p:nvPr/>
        </p:nvSpPr>
        <p:spPr>
          <a:xfrm>
            <a:off x="8458200" y="2560320"/>
            <a:ext cx="3017520" cy="749808"/>
          </a:xfrm>
          <a:prstGeom prst="rect">
            <a:avLst/>
          </a:prstGeom>
          <a:noFill/>
        </p:spPr>
        <p:txBody>
          <a:bodyPr wrap="square" lIns="0" rIns="0" tIns="0" bIns="0" anchor="ctr">
            <a:spAutoFit/>
          </a:bodyPr>
          <a:lstStyle/>
          <a:p>
            <a:pPr algn="l"/>
            <a:r>
              <a:rPr sz="1300" b="1" i="0">
                <a:solidFill>
                  <a:srgbClr val="1F3A5F"/>
                </a:solidFill>
                <a:latin typeface="Calibri"/>
              </a:rPr>
              <a:t>A broader authorisation check</a:t>
            </a:r>
          </a:p>
        </p:txBody>
      </p:sp>
      <p:sp>
        <p:nvSpPr>
          <p:cNvPr id="17" name="Rounded Rectangle 16"/>
          <p:cNvSpPr/>
          <p:nvPr/>
        </p:nvSpPr>
        <p:spPr>
          <a:xfrm>
            <a:off x="548640" y="3429000"/>
            <a:ext cx="11064240" cy="74980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57016"/>
            <a:ext cx="475488" cy="475488"/>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19" name="TextBox 18"/>
          <p:cNvSpPr txBox="1"/>
          <p:nvPr/>
        </p:nvSpPr>
        <p:spPr>
          <a:xfrm>
            <a:off x="1234440" y="3429000"/>
            <a:ext cx="3474720" cy="749808"/>
          </a:xfrm>
          <a:prstGeom prst="rect">
            <a:avLst/>
          </a:prstGeom>
          <a:noFill/>
        </p:spPr>
        <p:txBody>
          <a:bodyPr wrap="square" lIns="0" rIns="0" tIns="0" bIns="0" anchor="ctr">
            <a:spAutoFit/>
          </a:bodyPr>
          <a:lstStyle/>
          <a:p>
            <a:pPr algn="l"/>
            <a:r>
              <a:rPr sz="1400" b="1" i="0">
                <a:solidFill>
                  <a:srgbClr val="1C1F24"/>
                </a:solidFill>
                <a:latin typeface="Calibri"/>
              </a:rPr>
              <a:t>Inspect the reasoning</a:t>
            </a:r>
          </a:p>
        </p:txBody>
      </p:sp>
      <p:sp>
        <p:nvSpPr>
          <p:cNvPr id="20" name="TextBox 19"/>
          <p:cNvSpPr txBox="1"/>
          <p:nvPr/>
        </p:nvSpPr>
        <p:spPr>
          <a:xfrm>
            <a:off x="4846320" y="3429000"/>
            <a:ext cx="3474720" cy="749808"/>
          </a:xfrm>
          <a:prstGeom prst="rect">
            <a:avLst/>
          </a:prstGeom>
          <a:noFill/>
        </p:spPr>
        <p:txBody>
          <a:bodyPr wrap="square" lIns="0" rIns="0" tIns="0" bIns="0" anchor="ctr">
            <a:spAutoFit/>
          </a:bodyPr>
          <a:lstStyle/>
          <a:p>
            <a:pPr algn="l"/>
            <a:r>
              <a:rPr sz="1300" b="0" i="0">
                <a:solidFill>
                  <a:srgbClr val="1C1F24"/>
                </a:solidFill>
                <a:latin typeface="Calibri"/>
              </a:rPr>
              <a:t>Table, column and query step on every evidence line</a:t>
            </a:r>
          </a:p>
        </p:txBody>
      </p:sp>
      <p:sp>
        <p:nvSpPr>
          <p:cNvPr id="21" name="TextBox 20"/>
          <p:cNvSpPr txBox="1"/>
          <p:nvPr/>
        </p:nvSpPr>
        <p:spPr>
          <a:xfrm>
            <a:off x="8458200" y="3429000"/>
            <a:ext cx="3017520" cy="749808"/>
          </a:xfrm>
          <a:prstGeom prst="rect">
            <a:avLst/>
          </a:prstGeom>
          <a:noFill/>
        </p:spPr>
        <p:txBody>
          <a:bodyPr wrap="square" lIns="0" rIns="0" tIns="0" bIns="0" anchor="ctr">
            <a:spAutoFit/>
          </a:bodyPr>
          <a:lstStyle/>
          <a:p>
            <a:pPr algn="l"/>
            <a:r>
              <a:rPr sz="1300" b="1" i="0">
                <a:solidFill>
                  <a:srgbClr val="1F3A5F"/>
                </a:solidFill>
                <a:latin typeface="Calibri"/>
              </a:rPr>
              <a:t>Traceable findings</a:t>
            </a:r>
          </a:p>
        </p:txBody>
      </p:sp>
      <p:sp>
        <p:nvSpPr>
          <p:cNvPr id="22" name="Rounded Rectangle 21"/>
          <p:cNvSpPr/>
          <p:nvPr/>
        </p:nvSpPr>
        <p:spPr>
          <a:xfrm>
            <a:off x="548640" y="4297679"/>
            <a:ext cx="11064240" cy="74980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3232" y="4425695"/>
            <a:ext cx="475488" cy="475488"/>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24" name="TextBox 23"/>
          <p:cNvSpPr txBox="1"/>
          <p:nvPr/>
        </p:nvSpPr>
        <p:spPr>
          <a:xfrm>
            <a:off x="1234440" y="4297679"/>
            <a:ext cx="3474720" cy="749808"/>
          </a:xfrm>
          <a:prstGeom prst="rect">
            <a:avLst/>
          </a:prstGeom>
          <a:noFill/>
        </p:spPr>
        <p:txBody>
          <a:bodyPr wrap="square" lIns="0" rIns="0" tIns="0" bIns="0" anchor="ctr">
            <a:spAutoFit/>
          </a:bodyPr>
          <a:lstStyle/>
          <a:p>
            <a:pPr algn="l"/>
            <a:r>
              <a:rPr sz="1400" b="1" i="0">
                <a:solidFill>
                  <a:srgbClr val="1C1F24"/>
                </a:solidFill>
                <a:latin typeface="Calibri"/>
              </a:rPr>
              <a:t>Understand uncertainty</a:t>
            </a:r>
          </a:p>
        </p:txBody>
      </p:sp>
      <p:sp>
        <p:nvSpPr>
          <p:cNvPr id="25" name="TextBox 24"/>
          <p:cNvSpPr txBox="1"/>
          <p:nvPr/>
        </p:nvSpPr>
        <p:spPr>
          <a:xfrm>
            <a:off x="4846320" y="4297679"/>
            <a:ext cx="3474720" cy="749808"/>
          </a:xfrm>
          <a:prstGeom prst="rect">
            <a:avLst/>
          </a:prstGeom>
          <a:noFill/>
        </p:spPr>
        <p:txBody>
          <a:bodyPr wrap="square" lIns="0" rIns="0" tIns="0" bIns="0" anchor="ctr">
            <a:spAutoFit/>
          </a:bodyPr>
          <a:lstStyle/>
          <a:p>
            <a:pPr algn="l"/>
            <a:r>
              <a:rPr sz="1300" b="0" i="0">
                <a:solidFill>
                  <a:srgbClr val="1C1F24"/>
                </a:solidFill>
                <a:latin typeface="Calibri"/>
              </a:rPr>
              <a:t>List gaps and evidence not retrieved</a:t>
            </a:r>
          </a:p>
        </p:txBody>
      </p:sp>
      <p:sp>
        <p:nvSpPr>
          <p:cNvPr id="26" name="TextBox 25"/>
          <p:cNvSpPr txBox="1"/>
          <p:nvPr/>
        </p:nvSpPr>
        <p:spPr>
          <a:xfrm>
            <a:off x="8458200" y="4297679"/>
            <a:ext cx="3017520" cy="749808"/>
          </a:xfrm>
          <a:prstGeom prst="rect">
            <a:avLst/>
          </a:prstGeom>
          <a:noFill/>
        </p:spPr>
        <p:txBody>
          <a:bodyPr wrap="square" lIns="0" rIns="0" tIns="0" bIns="0" anchor="ctr">
            <a:spAutoFit/>
          </a:bodyPr>
          <a:lstStyle/>
          <a:p>
            <a:pPr algn="l"/>
            <a:r>
              <a:rPr sz="1300" b="1" i="0">
                <a:solidFill>
                  <a:srgbClr val="1F3A5F"/>
                </a:solidFill>
                <a:latin typeface="Calibri"/>
              </a:rPr>
              <a:t>Next checks, with owners</a:t>
            </a:r>
          </a:p>
        </p:txBody>
      </p:sp>
      <p:sp>
        <p:nvSpPr>
          <p:cNvPr id="27" name="Rounded Rectangle 26"/>
          <p:cNvSpPr/>
          <p:nvPr/>
        </p:nvSpPr>
        <p:spPr>
          <a:xfrm>
            <a:off x="548640" y="5166360"/>
            <a:ext cx="11064240" cy="74980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3232" y="5294376"/>
            <a:ext cx="475488" cy="475488"/>
          </a:xfrm>
          <a:prstGeom prst="ellipse">
            <a:avLst/>
          </a:prstGeom>
          <a:solidFill>
            <a:srgbClr val="F0A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29" name="TextBox 28"/>
          <p:cNvSpPr txBox="1"/>
          <p:nvPr/>
        </p:nvSpPr>
        <p:spPr>
          <a:xfrm>
            <a:off x="1234440" y="5166360"/>
            <a:ext cx="3474720" cy="749808"/>
          </a:xfrm>
          <a:prstGeom prst="rect">
            <a:avLst/>
          </a:prstGeom>
          <a:noFill/>
        </p:spPr>
        <p:txBody>
          <a:bodyPr wrap="square" lIns="0" rIns="0" tIns="0" bIns="0" anchor="ctr">
            <a:spAutoFit/>
          </a:bodyPr>
          <a:lstStyle/>
          <a:p>
            <a:pPr algn="l"/>
            <a:r>
              <a:rPr sz="1400" b="1" i="0">
                <a:solidFill>
                  <a:srgbClr val="1C1F24"/>
                </a:solidFill>
                <a:latin typeface="Calibri"/>
              </a:rPr>
              <a:t>Retain context and corrections</a:t>
            </a:r>
          </a:p>
        </p:txBody>
      </p:sp>
      <p:sp>
        <p:nvSpPr>
          <p:cNvPr id="30" name="TextBox 29"/>
          <p:cNvSpPr txBox="1"/>
          <p:nvPr/>
        </p:nvSpPr>
        <p:spPr>
          <a:xfrm>
            <a:off x="4846320" y="5166360"/>
            <a:ext cx="3474720" cy="749808"/>
          </a:xfrm>
          <a:prstGeom prst="rect">
            <a:avLst/>
          </a:prstGeom>
          <a:noFill/>
        </p:spPr>
        <p:txBody>
          <a:bodyPr wrap="square" lIns="0" rIns="0" tIns="0" bIns="0" anchor="ctr">
            <a:spAutoFit/>
          </a:bodyPr>
          <a:lstStyle/>
          <a:p>
            <a:pPr algn="l"/>
            <a:r>
              <a:rPr sz="1300" b="0" i="0">
                <a:solidFill>
                  <a:srgbClr val="1C1F24"/>
                </a:solidFill>
                <a:latin typeface="Calibri"/>
              </a:rPr>
              <a:t>Cross-alert history, analyst feedback records</a:t>
            </a:r>
          </a:p>
        </p:txBody>
      </p:sp>
      <p:sp>
        <p:nvSpPr>
          <p:cNvPr id="31" name="TextBox 30"/>
          <p:cNvSpPr txBox="1"/>
          <p:nvPr/>
        </p:nvSpPr>
        <p:spPr>
          <a:xfrm>
            <a:off x="8458200" y="5166360"/>
            <a:ext cx="3017520" cy="749808"/>
          </a:xfrm>
          <a:prstGeom prst="rect">
            <a:avLst/>
          </a:prstGeom>
          <a:noFill/>
        </p:spPr>
        <p:txBody>
          <a:bodyPr wrap="square" lIns="0" rIns="0" tIns="0" bIns="0" anchor="ctr">
            <a:spAutoFit/>
          </a:bodyPr>
          <a:lstStyle/>
          <a:p>
            <a:pPr algn="l"/>
            <a:r>
              <a:rPr sz="1300" b="1" i="0">
                <a:solidFill>
                  <a:srgbClr val="1F3A5F"/>
                </a:solidFill>
                <a:latin typeface="Calibri"/>
              </a:rPr>
              <a:t>Memory for later investigations</a:t>
            </a:r>
          </a:p>
        </p:txBody>
      </p:sp>
      <p:sp>
        <p:nvSpPr>
          <p:cNvPr id="32" name="TextBox 31"/>
          <p:cNvSpPr txBox="1"/>
          <p:nvPr/>
        </p:nvSpPr>
        <p:spPr>
          <a:xfrm>
            <a:off x="548640" y="6355080"/>
            <a:ext cx="11064240" cy="320040"/>
          </a:xfrm>
          <a:prstGeom prst="rect">
            <a:avLst/>
          </a:prstGeom>
          <a:noFill/>
        </p:spPr>
        <p:txBody>
          <a:bodyPr wrap="square" lIns="0" rIns="0" tIns="0" bIns="0" anchor="ctr">
            <a:spAutoFit/>
          </a:bodyPr>
          <a:lstStyle/>
          <a:p>
            <a:pPr algn="l"/>
            <a:r>
              <a:rPr sz="1000" b="0" i="0">
                <a:solidFill>
                  <a:srgbClr val="1C1F24"/>
                </a:solidFill>
                <a:latin typeface="Calibri"/>
              </a:rPr>
              <a:t>Queries are column-scoped and every report records its access footprint · suggested owners are assigned by the analyst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A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FFFFFF"/>
                </a:solidFill>
                <a:latin typeface="Calibri"/>
              </a:rPr>
              <a:t>The product: verdict, evidence, next action</a:t>
            </a:r>
          </a:p>
        </p:txBody>
      </p:sp>
      <p:sp>
        <p:nvSpPr>
          <p:cNvPr id="4" name="Rounded Rectangle 3"/>
          <p:cNvSpPr/>
          <p:nvPr/>
        </p:nvSpPr>
        <p:spPr>
          <a:xfrm>
            <a:off x="576072" y="1307592"/>
            <a:ext cx="7900416" cy="46528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rop-al004-760-220-3040-1536.png"/>
          <p:cNvPicPr>
            <a:picLocks noChangeAspect="1"/>
          </p:cNvPicPr>
          <p:nvPr/>
        </p:nvPicPr>
        <p:blipFill>
          <a:blip r:embed="rId2"/>
          <a:stretch>
            <a:fillRect/>
          </a:stretch>
        </p:blipFill>
        <p:spPr>
          <a:xfrm>
            <a:off x="685800" y="1417320"/>
            <a:ext cx="7680960" cy="4433396"/>
          </a:xfrm>
          <a:prstGeom prst="rect">
            <a:avLst/>
          </a:prstGeom>
        </p:spPr>
      </p:pic>
      <p:sp>
        <p:nvSpPr>
          <p:cNvPr id="6" name="Oval 5"/>
          <p:cNvSpPr/>
          <p:nvPr/>
        </p:nvSpPr>
        <p:spPr>
          <a:xfrm>
            <a:off x="347472" y="1463040"/>
            <a:ext cx="457200" cy="457200"/>
          </a:xfrm>
          <a:prstGeom prst="ellipse">
            <a:avLst/>
          </a:prstGeom>
          <a:solidFill>
            <a:srgbClr val="D741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Oval 6"/>
          <p:cNvSpPr/>
          <p:nvPr/>
        </p:nvSpPr>
        <p:spPr>
          <a:xfrm>
            <a:off x="347472" y="3722686"/>
            <a:ext cx="457200" cy="457200"/>
          </a:xfrm>
          <a:prstGeom prst="ellipse">
            <a:avLst/>
          </a:prstGeom>
          <a:solidFill>
            <a:srgbClr val="D741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8" name="Oval 7"/>
          <p:cNvSpPr/>
          <p:nvPr/>
        </p:nvSpPr>
        <p:spPr>
          <a:xfrm>
            <a:off x="8321040" y="3722686"/>
            <a:ext cx="457200" cy="457200"/>
          </a:xfrm>
          <a:prstGeom prst="ellipse">
            <a:avLst/>
          </a:prstGeom>
          <a:solidFill>
            <a:srgbClr val="D741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9" name="Oval 8"/>
          <p:cNvSpPr/>
          <p:nvPr/>
        </p:nvSpPr>
        <p:spPr>
          <a:xfrm>
            <a:off x="9098280" y="1417320"/>
            <a:ext cx="457200" cy="457200"/>
          </a:xfrm>
          <a:prstGeom prst="ellipse">
            <a:avLst/>
          </a:prstGeom>
          <a:solidFill>
            <a:srgbClr val="D741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10" name="TextBox 9"/>
          <p:cNvSpPr txBox="1"/>
          <p:nvPr/>
        </p:nvSpPr>
        <p:spPr>
          <a:xfrm>
            <a:off x="9692640" y="1399032"/>
            <a:ext cx="2011680" cy="320040"/>
          </a:xfrm>
          <a:prstGeom prst="rect">
            <a:avLst/>
          </a:prstGeom>
          <a:noFill/>
        </p:spPr>
        <p:txBody>
          <a:bodyPr wrap="square" lIns="0" rIns="0" tIns="0" bIns="0" anchor="t">
            <a:spAutoFit/>
          </a:bodyPr>
          <a:lstStyle/>
          <a:p>
            <a:pPr algn="l"/>
            <a:r>
              <a:rPr sz="1500" b="1" i="0">
                <a:solidFill>
                  <a:srgbClr val="FFFFFF"/>
                </a:solidFill>
                <a:latin typeface="Calibri"/>
              </a:rPr>
              <a:t>Read the finding</a:t>
            </a:r>
          </a:p>
        </p:txBody>
      </p:sp>
      <p:sp>
        <p:nvSpPr>
          <p:cNvPr id="11" name="TextBox 10"/>
          <p:cNvSpPr txBox="1"/>
          <p:nvPr/>
        </p:nvSpPr>
        <p:spPr>
          <a:xfrm>
            <a:off x="9692640" y="1719072"/>
            <a:ext cx="2011680" cy="640080"/>
          </a:xfrm>
          <a:prstGeom prst="rect">
            <a:avLst/>
          </a:prstGeom>
          <a:noFill/>
        </p:spPr>
        <p:txBody>
          <a:bodyPr wrap="square" lIns="0" rIns="0" tIns="0" bIns="0" anchor="t">
            <a:spAutoFit/>
          </a:bodyPr>
          <a:lstStyle/>
          <a:p>
            <a:pPr algn="l"/>
            <a:r>
              <a:rPr sz="1200" b="0" i="0">
                <a:solidFill>
                  <a:srgbClr val="D6F3EF"/>
                </a:solidFill>
                <a:latin typeface="Calibri"/>
              </a:rPr>
              <a:t>verdict, reason, queue priority</a:t>
            </a:r>
          </a:p>
        </p:txBody>
      </p:sp>
      <p:sp>
        <p:nvSpPr>
          <p:cNvPr id="12" name="Oval 11"/>
          <p:cNvSpPr/>
          <p:nvPr/>
        </p:nvSpPr>
        <p:spPr>
          <a:xfrm>
            <a:off x="9098280" y="2606040"/>
            <a:ext cx="457200" cy="457200"/>
          </a:xfrm>
          <a:prstGeom prst="ellipse">
            <a:avLst/>
          </a:prstGeom>
          <a:solidFill>
            <a:srgbClr val="D741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3" name="TextBox 12"/>
          <p:cNvSpPr txBox="1"/>
          <p:nvPr/>
        </p:nvSpPr>
        <p:spPr>
          <a:xfrm>
            <a:off x="9692640" y="2587752"/>
            <a:ext cx="2011680" cy="320040"/>
          </a:xfrm>
          <a:prstGeom prst="rect">
            <a:avLst/>
          </a:prstGeom>
          <a:noFill/>
        </p:spPr>
        <p:txBody>
          <a:bodyPr wrap="square" lIns="0" rIns="0" tIns="0" bIns="0" anchor="t">
            <a:spAutoFit/>
          </a:bodyPr>
          <a:lstStyle/>
          <a:p>
            <a:pPr algn="l"/>
            <a:r>
              <a:rPr sz="1500" b="1" i="0">
                <a:solidFill>
                  <a:srgbClr val="FFFFFF"/>
                </a:solidFill>
                <a:latin typeface="Calibri"/>
              </a:rPr>
              <a:t>Check the evidence</a:t>
            </a:r>
          </a:p>
        </p:txBody>
      </p:sp>
      <p:sp>
        <p:nvSpPr>
          <p:cNvPr id="14" name="TextBox 13"/>
          <p:cNvSpPr txBox="1"/>
          <p:nvPr/>
        </p:nvSpPr>
        <p:spPr>
          <a:xfrm>
            <a:off x="9692640" y="2907792"/>
            <a:ext cx="2011680" cy="640080"/>
          </a:xfrm>
          <a:prstGeom prst="rect">
            <a:avLst/>
          </a:prstGeom>
          <a:noFill/>
        </p:spPr>
        <p:txBody>
          <a:bodyPr wrap="square" lIns="0" rIns="0" tIns="0" bIns="0" anchor="t">
            <a:spAutoFit/>
          </a:bodyPr>
          <a:lstStyle/>
          <a:p>
            <a:pPr algn="l"/>
            <a:r>
              <a:rPr sz="1200" b="0" i="0">
                <a:solidFill>
                  <a:srgbClr val="D6F3EF"/>
                </a:solidFill>
                <a:latin typeface="Calibri"/>
              </a:rPr>
              <a:t>the conflict and the cited ticket line</a:t>
            </a:r>
          </a:p>
        </p:txBody>
      </p:sp>
      <p:sp>
        <p:nvSpPr>
          <p:cNvPr id="15" name="Oval 14"/>
          <p:cNvSpPr/>
          <p:nvPr/>
        </p:nvSpPr>
        <p:spPr>
          <a:xfrm>
            <a:off x="9098280" y="3794760"/>
            <a:ext cx="457200" cy="457200"/>
          </a:xfrm>
          <a:prstGeom prst="ellipse">
            <a:avLst/>
          </a:prstGeom>
          <a:solidFill>
            <a:srgbClr val="D741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6" name="TextBox 15"/>
          <p:cNvSpPr txBox="1"/>
          <p:nvPr/>
        </p:nvSpPr>
        <p:spPr>
          <a:xfrm>
            <a:off x="9692640" y="3776472"/>
            <a:ext cx="2011680" cy="320040"/>
          </a:xfrm>
          <a:prstGeom prst="rect">
            <a:avLst/>
          </a:prstGeom>
          <a:noFill/>
        </p:spPr>
        <p:txBody>
          <a:bodyPr wrap="square" lIns="0" rIns="0" tIns="0" bIns="0" anchor="t">
            <a:spAutoFit/>
          </a:bodyPr>
          <a:lstStyle/>
          <a:p>
            <a:pPr algn="l"/>
            <a:r>
              <a:rPr sz="1500" b="1" i="0">
                <a:solidFill>
                  <a:srgbClr val="FFFFFF"/>
                </a:solidFill>
                <a:latin typeface="Calibri"/>
              </a:rPr>
              <a:t>Choose the next step</a:t>
            </a:r>
          </a:p>
        </p:txBody>
      </p:sp>
      <p:sp>
        <p:nvSpPr>
          <p:cNvPr id="17" name="TextBox 16"/>
          <p:cNvSpPr txBox="1"/>
          <p:nvPr/>
        </p:nvSpPr>
        <p:spPr>
          <a:xfrm>
            <a:off x="9692640" y="4096512"/>
            <a:ext cx="2011680" cy="640080"/>
          </a:xfrm>
          <a:prstGeom prst="rect">
            <a:avLst/>
          </a:prstGeom>
          <a:noFill/>
        </p:spPr>
        <p:txBody>
          <a:bodyPr wrap="square" lIns="0" rIns="0" tIns="0" bIns="0" anchor="t">
            <a:spAutoFit/>
          </a:bodyPr>
          <a:lstStyle/>
          <a:p>
            <a:pPr algn="l"/>
            <a:r>
              <a:rPr sz="1200" b="0" i="0">
                <a:solidFill>
                  <a:srgbClr val="D6F3EF"/>
                </a:solidFill>
                <a:latin typeface="Calibri"/>
              </a:rPr>
              <a:t>owner and done-when on each check</a:t>
            </a:r>
          </a:p>
        </p:txBody>
      </p:sp>
      <p:sp>
        <p:nvSpPr>
          <p:cNvPr id="18" name="Rounded Rectangle 17"/>
          <p:cNvSpPr/>
          <p:nvPr/>
        </p:nvSpPr>
        <p:spPr>
          <a:xfrm>
            <a:off x="9098280" y="4983480"/>
            <a:ext cx="2560320" cy="1188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5074920"/>
            <a:ext cx="2331720" cy="1005840"/>
          </a:xfrm>
          <a:prstGeom prst="rect">
            <a:avLst/>
          </a:prstGeom>
          <a:noFill/>
        </p:spPr>
        <p:txBody>
          <a:bodyPr wrap="square" lIns="0" rIns="0" tIns="0" bIns="0" anchor="t">
            <a:spAutoFit/>
          </a:bodyPr>
          <a:lstStyle/>
          <a:p>
            <a:pPr algn="l">
              <a:spcAft>
                <a:spcPts val="400"/>
              </a:spcAft>
            </a:pPr>
            <a:r>
              <a:rPr sz="1100" b="1" i="0">
                <a:solidFill>
                  <a:srgbClr val="1C1F24"/>
                </a:solidFill>
                <a:latin typeface="Calibri"/>
              </a:rPr>
              <a:t>Base verdicts  </a:t>
            </a:r>
            <a:r>
              <a:rPr sz="1100" b="0" i="0">
                <a:solidFill>
                  <a:srgbClr val="1C1F24"/>
                </a:solidFill>
                <a:latin typeface="Calibri"/>
              </a:rPr>
              <a:t>compliant · investigate · cannot-confirm</a:t>
            </a:r>
          </a:p>
          <a:p>
            <a:pPr algn="l">
              <a:spcAft>
                <a:spcPts val="400"/>
              </a:spcAft>
            </a:pPr>
            <a:r>
              <a:rPr sz="1100" b="1" i="0">
                <a:solidFill>
                  <a:srgbClr val="1C1F24"/>
                </a:solidFill>
                <a:latin typeface="Calibri"/>
              </a:rPr>
              <a:t>Unresolved disagreement  </a:t>
            </a:r>
            <a:r>
              <a:rPr sz="1100" b="0" i="0">
                <a:solidFill>
                  <a:srgbClr val="1C1F24"/>
                </a:solidFill>
                <a:latin typeface="Calibri"/>
              </a:rPr>
              <a:t>needs-human</a:t>
            </a:r>
          </a:p>
        </p:txBody>
      </p:sp>
      <p:sp>
        <p:nvSpPr>
          <p:cNvPr id="20" name="TextBox 19"/>
          <p:cNvSpPr txBox="1"/>
          <p:nvPr/>
        </p:nvSpPr>
        <p:spPr>
          <a:xfrm>
            <a:off x="548640" y="6355080"/>
            <a:ext cx="11064240" cy="320040"/>
          </a:xfrm>
          <a:prstGeom prst="rect">
            <a:avLst/>
          </a:prstGeom>
          <a:noFill/>
        </p:spPr>
        <p:txBody>
          <a:bodyPr wrap="square" lIns="0" rIns="0" tIns="0" bIns="0" anchor="ctr">
            <a:spAutoFit/>
          </a:bodyPr>
          <a:lstStyle/>
          <a:p>
            <a:pPr algn="l"/>
            <a:r>
              <a:rPr sz="1000" b="0" i="0">
                <a:solidFill>
                  <a:srgbClr val="FFFFFF"/>
                </a:solidFill>
                <a:latin typeface="Calibri"/>
              </a:rPr>
              <a:t>The evidence/review score is a heuristic, not a probability of correctness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A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FFFFFF"/>
                </a:solidFill>
                <a:latin typeface="Calibri"/>
              </a:rPr>
              <a:t>Existing products and our focus</a:t>
            </a:r>
          </a:p>
        </p:txBody>
      </p:sp>
      <p:sp>
        <p:nvSpPr>
          <p:cNvPr id="4" name="Rounded Rectangle 3"/>
          <p:cNvSpPr/>
          <p:nvPr/>
        </p:nvSpPr>
        <p:spPr>
          <a:xfrm>
            <a:off x="548640" y="1325880"/>
            <a:ext cx="3566160"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08760"/>
            <a:ext cx="3108960" cy="777240"/>
          </a:xfrm>
          <a:prstGeom prst="rect">
            <a:avLst/>
          </a:prstGeom>
          <a:noFill/>
        </p:spPr>
        <p:txBody>
          <a:bodyPr wrap="square" lIns="0" rIns="0" tIns="0" bIns="0" anchor="t">
            <a:spAutoFit/>
          </a:bodyPr>
          <a:lstStyle/>
          <a:p>
            <a:pPr algn="l"/>
            <a:r>
              <a:rPr sz="1600" b="1" i="0">
                <a:solidFill>
                  <a:srgbClr val="1C1F24"/>
                </a:solidFill>
                <a:latin typeface="Calibri"/>
              </a:rPr>
              <a:t>Microsoft Purview
DLP Triage Agent</a:t>
            </a:r>
          </a:p>
        </p:txBody>
      </p:sp>
      <p:sp>
        <p:nvSpPr>
          <p:cNvPr id="6" name="TextBox 5"/>
          <p:cNvSpPr txBox="1"/>
          <p:nvPr/>
        </p:nvSpPr>
        <p:spPr>
          <a:xfrm>
            <a:off x="777240" y="2331720"/>
            <a:ext cx="3108960" cy="1645920"/>
          </a:xfrm>
          <a:prstGeom prst="rect">
            <a:avLst/>
          </a:prstGeom>
          <a:noFill/>
        </p:spPr>
        <p:txBody>
          <a:bodyPr wrap="square" lIns="0" rIns="0" tIns="0" bIns="0" anchor="t">
            <a:spAutoFit/>
          </a:bodyPr>
          <a:lstStyle/>
          <a:p>
            <a:pPr algn="l"/>
            <a:r>
              <a:rPr sz="1200" b="0" i="0">
                <a:solidFill>
                  <a:srgbClr val="5B6470"/>
                </a:solidFill>
                <a:latin typeface="Calibri"/>
              </a:rPr>
              <a:t>Triages supported DLP alerts into Needs attention / Less urgent / Not categorized</a:t>
            </a:r>
          </a:p>
        </p:txBody>
      </p:sp>
      <p:sp>
        <p:nvSpPr>
          <p:cNvPr id="7" name="Rounded Rectangle 6"/>
          <p:cNvSpPr/>
          <p:nvPr/>
        </p:nvSpPr>
        <p:spPr>
          <a:xfrm>
            <a:off x="4297679" y="1325880"/>
            <a:ext cx="3566160"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79" y="1508760"/>
            <a:ext cx="3108960" cy="777240"/>
          </a:xfrm>
          <a:prstGeom prst="rect">
            <a:avLst/>
          </a:prstGeom>
          <a:noFill/>
        </p:spPr>
        <p:txBody>
          <a:bodyPr wrap="square" lIns="0" rIns="0" tIns="0" bIns="0" anchor="t">
            <a:spAutoFit/>
          </a:bodyPr>
          <a:lstStyle/>
          <a:p>
            <a:pPr algn="l"/>
            <a:r>
              <a:rPr sz="1600" b="1" i="0">
                <a:solidFill>
                  <a:srgbClr val="1C1F24"/>
                </a:solidFill>
                <a:latin typeface="Calibri"/>
              </a:rPr>
              <a:t>Mimecast Mihra
Investigation Agent</a:t>
            </a:r>
          </a:p>
        </p:txBody>
      </p:sp>
      <p:sp>
        <p:nvSpPr>
          <p:cNvPr id="9" name="TextBox 8"/>
          <p:cNvSpPr txBox="1"/>
          <p:nvPr/>
        </p:nvSpPr>
        <p:spPr>
          <a:xfrm>
            <a:off x="4526279" y="2331720"/>
            <a:ext cx="3108960" cy="1645920"/>
          </a:xfrm>
          <a:prstGeom prst="rect">
            <a:avLst/>
          </a:prstGeom>
          <a:noFill/>
        </p:spPr>
        <p:txBody>
          <a:bodyPr wrap="square" lIns="0" rIns="0" tIns="0" bIns="0" anchor="t">
            <a:spAutoFit/>
          </a:bodyPr>
          <a:lstStyle/>
          <a:p>
            <a:pPr algn="l"/>
            <a:r>
              <a:rPr sz="1200" b="0" i="0">
                <a:solidFill>
                  <a:srgbClr val="5B6470"/>
                </a:solidFill>
                <a:latin typeface="Calibri"/>
              </a:rPr>
              <a:t>Announced for Incydr (beta): triage, context, explanation of its reasoning, next-step recommendations</a:t>
            </a:r>
          </a:p>
        </p:txBody>
      </p:sp>
      <p:sp>
        <p:nvSpPr>
          <p:cNvPr id="10" name="Rounded Rectangle 9"/>
          <p:cNvSpPr/>
          <p:nvPr/>
        </p:nvSpPr>
        <p:spPr>
          <a:xfrm>
            <a:off x="8046719" y="1325880"/>
            <a:ext cx="3566160" cy="274320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1508760"/>
            <a:ext cx="3108960" cy="777240"/>
          </a:xfrm>
          <a:prstGeom prst="rect">
            <a:avLst/>
          </a:prstGeom>
          <a:noFill/>
        </p:spPr>
        <p:txBody>
          <a:bodyPr wrap="square" lIns="0" rIns="0" tIns="0" bIns="0" anchor="t">
            <a:spAutoFit/>
          </a:bodyPr>
          <a:lstStyle/>
          <a:p>
            <a:pPr algn="l"/>
            <a:r>
              <a:rPr sz="1600" b="1" i="0">
                <a:solidFill>
                  <a:srgbClr val="FFFFFF"/>
                </a:solidFill>
                <a:latin typeface="Calibri"/>
              </a:rPr>
              <a:t>ExportWhy</a:t>
            </a:r>
          </a:p>
        </p:txBody>
      </p:sp>
      <p:sp>
        <p:nvSpPr>
          <p:cNvPr id="12" name="TextBox 11"/>
          <p:cNvSpPr txBox="1"/>
          <p:nvPr/>
        </p:nvSpPr>
        <p:spPr>
          <a:xfrm>
            <a:off x="8275319" y="2331720"/>
            <a:ext cx="3108960" cy="1645920"/>
          </a:xfrm>
          <a:prstGeom prst="rect">
            <a:avLst/>
          </a:prstGeom>
          <a:noFill/>
        </p:spPr>
        <p:txBody>
          <a:bodyPr wrap="square" lIns="0" rIns="0" tIns="0" bIns="0" anchor="t">
            <a:spAutoFit/>
          </a:bodyPr>
          <a:lstStyle/>
          <a:p>
            <a:pPr algn="l"/>
            <a:r>
              <a:rPr sz="1200" b="0" i="0">
                <a:solidFill>
                  <a:srgbClr val="CADCFC"/>
                </a:solidFill>
                <a:latin typeface="Calibri"/>
              </a:rPr>
              <a:t>One question: does the authorisation cover this export? Logs, policy and tickets through Zetaris; cited findings, conflicts, gaps, access footprint</a:t>
            </a:r>
          </a:p>
        </p:txBody>
      </p:sp>
      <p:sp>
        <p:nvSpPr>
          <p:cNvPr id="13" name="TextBox 12"/>
          <p:cNvSpPr txBox="1"/>
          <p:nvPr/>
        </p:nvSpPr>
        <p:spPr>
          <a:xfrm>
            <a:off x="548640" y="4343400"/>
            <a:ext cx="10972800" cy="320040"/>
          </a:xfrm>
          <a:prstGeom prst="rect">
            <a:avLst/>
          </a:prstGeom>
          <a:noFill/>
        </p:spPr>
        <p:txBody>
          <a:bodyPr wrap="square" lIns="0" rIns="0" tIns="0" bIns="0" anchor="t">
            <a:spAutoFit/>
          </a:bodyPr>
          <a:lstStyle/>
          <a:p>
            <a:pPr algn="l"/>
            <a:r>
              <a:rPr sz="1100" b="1" i="0">
                <a:solidFill>
                  <a:srgbClr val="FFFFFF"/>
                </a:solidFill>
                <a:latin typeface="Calibri"/>
              </a:rPr>
              <a:t>OUR DESIGN FOCUS</a:t>
            </a:r>
          </a:p>
        </p:txBody>
      </p:sp>
      <p:sp>
        <p:nvSpPr>
          <p:cNvPr id="14" name="Rounded Rectangle 13"/>
          <p:cNvSpPr/>
          <p:nvPr/>
        </p:nvSpPr>
        <p:spPr>
          <a:xfrm>
            <a:off x="548640" y="4709160"/>
            <a:ext cx="3566160" cy="822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4873752"/>
            <a:ext cx="502920" cy="502920"/>
          </a:xfrm>
          <a:prstGeom prst="ellipse">
            <a:avLst/>
          </a:prstGeom>
          <a:solidFill>
            <a:srgbClr val="15A3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6" name="TextBox 15"/>
          <p:cNvSpPr txBox="1"/>
          <p:nvPr/>
        </p:nvSpPr>
        <p:spPr>
          <a:xfrm>
            <a:off x="1371600" y="4709160"/>
            <a:ext cx="2651760" cy="822960"/>
          </a:xfrm>
          <a:prstGeom prst="rect">
            <a:avLst/>
          </a:prstGeom>
          <a:noFill/>
        </p:spPr>
        <p:txBody>
          <a:bodyPr wrap="square" lIns="0" rIns="0" tIns="0" bIns="0" anchor="ctr">
            <a:spAutoFit/>
          </a:bodyPr>
          <a:lstStyle/>
          <a:p>
            <a:pPr algn="l"/>
            <a:r>
              <a:rPr sz="1400" b="1" i="0">
                <a:solidFill>
                  <a:srgbClr val="1C1F24"/>
                </a:solidFill>
                <a:latin typeface="Calibri"/>
              </a:rPr>
              <a:t>Field-level authorisation checks</a:t>
            </a:r>
          </a:p>
        </p:txBody>
      </p:sp>
      <p:sp>
        <p:nvSpPr>
          <p:cNvPr id="17" name="Rounded Rectangle 16"/>
          <p:cNvSpPr/>
          <p:nvPr/>
        </p:nvSpPr>
        <p:spPr>
          <a:xfrm>
            <a:off x="4297679" y="4709160"/>
            <a:ext cx="3566160" cy="822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480559" y="4873752"/>
            <a:ext cx="502920" cy="502920"/>
          </a:xfrm>
          <a:prstGeom prst="ellipse">
            <a:avLst/>
          </a:prstGeom>
          <a:solidFill>
            <a:srgbClr val="15A3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9" name="TextBox 18"/>
          <p:cNvSpPr txBox="1"/>
          <p:nvPr/>
        </p:nvSpPr>
        <p:spPr>
          <a:xfrm>
            <a:off x="5120640" y="4709160"/>
            <a:ext cx="2651760" cy="822960"/>
          </a:xfrm>
          <a:prstGeom prst="rect">
            <a:avLst/>
          </a:prstGeom>
          <a:noFill/>
        </p:spPr>
        <p:txBody>
          <a:bodyPr wrap="square" lIns="0" rIns="0" tIns="0" bIns="0" anchor="ctr">
            <a:spAutoFit/>
          </a:bodyPr>
          <a:lstStyle/>
          <a:p>
            <a:pPr algn="l"/>
            <a:r>
              <a:rPr sz="1400" b="1" i="0">
                <a:solidFill>
                  <a:srgbClr val="1C1F24"/>
                </a:solidFill>
                <a:latin typeface="Calibri"/>
              </a:rPr>
              <a:t>Federated evidence retrieval</a:t>
            </a:r>
          </a:p>
        </p:txBody>
      </p:sp>
      <p:sp>
        <p:nvSpPr>
          <p:cNvPr id="20" name="Rounded Rectangle 19"/>
          <p:cNvSpPr/>
          <p:nvPr/>
        </p:nvSpPr>
        <p:spPr>
          <a:xfrm>
            <a:off x="8046719" y="4709160"/>
            <a:ext cx="3566160" cy="8229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599" y="4873752"/>
            <a:ext cx="502920" cy="502920"/>
          </a:xfrm>
          <a:prstGeom prst="ellipse">
            <a:avLst/>
          </a:prstGeom>
          <a:solidFill>
            <a:srgbClr val="15A3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22" name="TextBox 21"/>
          <p:cNvSpPr txBox="1"/>
          <p:nvPr/>
        </p:nvSpPr>
        <p:spPr>
          <a:xfrm>
            <a:off x="8869680" y="4709160"/>
            <a:ext cx="2651760" cy="822960"/>
          </a:xfrm>
          <a:prstGeom prst="rect">
            <a:avLst/>
          </a:prstGeom>
          <a:noFill/>
        </p:spPr>
        <p:txBody>
          <a:bodyPr wrap="square" lIns="0" rIns="0" tIns="0" bIns="0" anchor="ctr">
            <a:spAutoFit/>
          </a:bodyPr>
          <a:lstStyle/>
          <a:p>
            <a:pPr algn="l"/>
            <a:r>
              <a:rPr sz="1400" b="1" i="0">
                <a:solidFill>
                  <a:srgbClr val="1C1F24"/>
                </a:solidFill>
                <a:latin typeface="Calibri"/>
              </a:rPr>
              <a:t>Constrained model review</a:t>
            </a:r>
          </a:p>
        </p:txBody>
      </p:sp>
      <p:sp>
        <p:nvSpPr>
          <p:cNvPr id="23" name="TextBox 22"/>
          <p:cNvSpPr txBox="1"/>
          <p:nvPr/>
        </p:nvSpPr>
        <p:spPr>
          <a:xfrm>
            <a:off x="548640" y="6355080"/>
            <a:ext cx="11064240" cy="320040"/>
          </a:xfrm>
          <a:prstGeom prst="rect">
            <a:avLst/>
          </a:prstGeom>
          <a:noFill/>
        </p:spPr>
        <p:txBody>
          <a:bodyPr wrap="square" lIns="0" rIns="0" tIns="0" bIns="0" anchor="ctr">
            <a:spAutoFit/>
          </a:bodyPr>
          <a:lstStyle/>
          <a:p>
            <a:pPr algn="l"/>
            <a:r>
              <a:rPr sz="1000" b="0" i="0">
                <a:solidFill>
                  <a:srgbClr val="FFFFFF"/>
                </a:solidFill>
                <a:latin typeface="Calibri"/>
              </a:rPr>
              <a:t>A comparison of documented capabilities and product focus, not a head-to-head evaluation · sources: Microsoft Learn (Purview DLP Triage Agent), Mimecast announcement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FFFFFF"/>
                </a:solidFill>
                <a:latin typeface="Calibri"/>
              </a:rPr>
              <a:t>Architecture: business records become traceable findings</a:t>
            </a:r>
          </a:p>
        </p:txBody>
      </p:sp>
      <p:sp>
        <p:nvSpPr>
          <p:cNvPr id="4" name="Can 3"/>
          <p:cNvSpPr/>
          <p:nvPr/>
        </p:nvSpPr>
        <p:spPr>
          <a:xfrm>
            <a:off x="1188720" y="1280160"/>
            <a:ext cx="731520" cy="73152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84832"/>
            <a:ext cx="1463040" cy="457200"/>
          </a:xfrm>
          <a:prstGeom prst="rect">
            <a:avLst/>
          </a:prstGeom>
          <a:noFill/>
        </p:spPr>
        <p:txBody>
          <a:bodyPr wrap="square" lIns="0" rIns="0" tIns="0" bIns="0" anchor="t">
            <a:spAutoFit/>
          </a:bodyPr>
          <a:lstStyle/>
          <a:p>
            <a:pPr algn="ctr"/>
            <a:r>
              <a:rPr sz="1200" b="1" i="0">
                <a:solidFill>
                  <a:srgbClr val="FFFFFF"/>
                </a:solidFill>
                <a:latin typeface="Calibri"/>
              </a:rPr>
              <a:t>export logs</a:t>
            </a:r>
          </a:p>
        </p:txBody>
      </p:sp>
      <p:sp>
        <p:nvSpPr>
          <p:cNvPr id="6" name="Can 5"/>
          <p:cNvSpPr/>
          <p:nvPr/>
        </p:nvSpPr>
        <p:spPr>
          <a:xfrm>
            <a:off x="2651760" y="1280160"/>
            <a:ext cx="731520" cy="73152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0" y="2084832"/>
            <a:ext cx="1463040" cy="457200"/>
          </a:xfrm>
          <a:prstGeom prst="rect">
            <a:avLst/>
          </a:prstGeom>
          <a:noFill/>
        </p:spPr>
        <p:txBody>
          <a:bodyPr wrap="square" lIns="0" rIns="0" tIns="0" bIns="0" anchor="t">
            <a:spAutoFit/>
          </a:bodyPr>
          <a:lstStyle/>
          <a:p>
            <a:pPr algn="ctr"/>
            <a:r>
              <a:rPr sz="1200" b="1" i="0">
                <a:solidFill>
                  <a:srgbClr val="FFFFFF"/>
                </a:solidFill>
                <a:latin typeface="Calibri"/>
              </a:rPr>
              <a:t>access policy</a:t>
            </a:r>
          </a:p>
        </p:txBody>
      </p:sp>
      <p:sp>
        <p:nvSpPr>
          <p:cNvPr id="8" name="Can 7"/>
          <p:cNvSpPr/>
          <p:nvPr/>
        </p:nvSpPr>
        <p:spPr>
          <a:xfrm>
            <a:off x="4114800" y="1280160"/>
            <a:ext cx="731520" cy="73152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39" y="2084832"/>
            <a:ext cx="1463040" cy="457200"/>
          </a:xfrm>
          <a:prstGeom prst="rect">
            <a:avLst/>
          </a:prstGeom>
          <a:noFill/>
        </p:spPr>
        <p:txBody>
          <a:bodyPr wrap="square" lIns="0" rIns="0" tIns="0" bIns="0" anchor="t">
            <a:spAutoFit/>
          </a:bodyPr>
          <a:lstStyle/>
          <a:p>
            <a:pPr algn="ctr"/>
            <a:r>
              <a:rPr sz="1200" b="1" i="0">
                <a:solidFill>
                  <a:srgbClr val="FFFFFF"/>
                </a:solidFill>
                <a:latin typeface="Calibri"/>
              </a:rPr>
              <a:t>approval tickets</a:t>
            </a:r>
          </a:p>
        </p:txBody>
      </p:sp>
      <p:sp>
        <p:nvSpPr>
          <p:cNvPr id="10" name="Down Arrow 9"/>
          <p:cNvSpPr/>
          <p:nvPr/>
        </p:nvSpPr>
        <p:spPr>
          <a:xfrm>
            <a:off x="2606040" y="2560320"/>
            <a:ext cx="365760" cy="365760"/>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017520"/>
            <a:ext cx="4206240" cy="73152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17520"/>
            <a:ext cx="3931920" cy="731520"/>
          </a:xfrm>
          <a:prstGeom prst="rect">
            <a:avLst/>
          </a:prstGeom>
          <a:noFill/>
        </p:spPr>
        <p:txBody>
          <a:bodyPr wrap="square" lIns="0" rIns="0" tIns="0" bIns="0" anchor="ctr">
            <a:spAutoFit/>
          </a:bodyPr>
          <a:lstStyle/>
          <a:p>
            <a:pPr algn="l"/>
            <a:r>
              <a:rPr sz="1600" b="1" i="0">
                <a:solidFill>
                  <a:srgbClr val="FFFFFF"/>
                </a:solidFill>
                <a:latin typeface="Calibri"/>
              </a:rPr>
              <a:t>Zetaris</a:t>
            </a:r>
            <a:r>
              <a:rPr sz="1200" b="0" i="0">
                <a:solidFill>
                  <a:srgbClr val="FFFFFF"/>
                </a:solidFill>
                <a:latin typeface="Calibri"/>
              </a:rPr>
              <a:t>   one SQL schema · cross-source joins</a:t>
            </a:r>
          </a:p>
        </p:txBody>
      </p:sp>
      <p:sp>
        <p:nvSpPr>
          <p:cNvPr id="13" name="Down Arrow 12"/>
          <p:cNvSpPr/>
          <p:nvPr/>
        </p:nvSpPr>
        <p:spPr>
          <a:xfrm>
            <a:off x="2606040" y="3840480"/>
            <a:ext cx="365760" cy="365760"/>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4297680"/>
            <a:ext cx="420624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315968"/>
            <a:ext cx="3931920" cy="274320"/>
          </a:xfrm>
          <a:prstGeom prst="rect">
            <a:avLst/>
          </a:prstGeom>
          <a:noFill/>
        </p:spPr>
        <p:txBody>
          <a:bodyPr wrap="square" lIns="0" rIns="0" tIns="0" bIns="0" anchor="t">
            <a:spAutoFit/>
          </a:bodyPr>
          <a:lstStyle/>
          <a:p>
            <a:pPr algn="l"/>
            <a:r>
              <a:rPr sz="1000" b="1" i="0">
                <a:solidFill>
                  <a:srgbClr val="5B6470"/>
                </a:solidFill>
                <a:latin typeface="Calibri"/>
              </a:rPr>
              <a:t>INVESTIGATION ROLES</a:t>
            </a:r>
          </a:p>
        </p:txBody>
      </p:sp>
      <p:sp>
        <p:nvSpPr>
          <p:cNvPr id="16" name="Rounded Rectangle 15"/>
          <p:cNvSpPr/>
          <p:nvPr/>
        </p:nvSpPr>
        <p:spPr>
          <a:xfrm>
            <a:off x="868680" y="4663440"/>
            <a:ext cx="768096" cy="36576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1">
                <a:solidFill>
                  <a:srgbClr val="1C1F24"/>
                </a:solidFill>
                <a:latin typeface="Calibri"/>
              </a:rPr>
              <a:t>Planner</a:t>
            </a:r>
          </a:p>
        </p:txBody>
      </p:sp>
      <p:sp>
        <p:nvSpPr>
          <p:cNvPr id="17" name="Rounded Rectangle 16"/>
          <p:cNvSpPr/>
          <p:nvPr/>
        </p:nvSpPr>
        <p:spPr>
          <a:xfrm>
            <a:off x="1673352" y="4663440"/>
            <a:ext cx="768096" cy="36576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1">
                <a:solidFill>
                  <a:srgbClr val="1C1F24"/>
                </a:solidFill>
                <a:latin typeface="Calibri"/>
              </a:rPr>
              <a:t>Retriever</a:t>
            </a:r>
          </a:p>
        </p:txBody>
      </p:sp>
      <p:sp>
        <p:nvSpPr>
          <p:cNvPr id="18" name="Rounded Rectangle 17"/>
          <p:cNvSpPr/>
          <p:nvPr/>
        </p:nvSpPr>
        <p:spPr>
          <a:xfrm>
            <a:off x="2478024" y="4663440"/>
            <a:ext cx="768096" cy="36576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1">
                <a:solidFill>
                  <a:srgbClr val="1C1F24"/>
                </a:solidFill>
                <a:latin typeface="Calibri"/>
              </a:rPr>
              <a:t>Evaluator</a:t>
            </a:r>
          </a:p>
        </p:txBody>
      </p:sp>
      <p:sp>
        <p:nvSpPr>
          <p:cNvPr id="19" name="Rounded Rectangle 18"/>
          <p:cNvSpPr/>
          <p:nvPr/>
        </p:nvSpPr>
        <p:spPr>
          <a:xfrm>
            <a:off x="3282696" y="4663440"/>
            <a:ext cx="768096" cy="36576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1">
                <a:solidFill>
                  <a:srgbClr val="1C1F24"/>
                </a:solidFill>
                <a:latin typeface="Calibri"/>
              </a:rPr>
              <a:t>Reporter</a:t>
            </a:r>
          </a:p>
        </p:txBody>
      </p:sp>
      <p:sp>
        <p:nvSpPr>
          <p:cNvPr id="20" name="Rounded Rectangle 19"/>
          <p:cNvSpPr/>
          <p:nvPr/>
        </p:nvSpPr>
        <p:spPr>
          <a:xfrm>
            <a:off x="4087368" y="4663440"/>
            <a:ext cx="768096" cy="36576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1">
                <a:solidFill>
                  <a:srgbClr val="1C1F24"/>
                </a:solidFill>
                <a:latin typeface="Calibri"/>
              </a:rPr>
              <a:t>Critic</a:t>
            </a:r>
          </a:p>
        </p:txBody>
      </p:sp>
      <p:sp>
        <p:nvSpPr>
          <p:cNvPr id="21" name="Down Arrow 20"/>
          <p:cNvSpPr/>
          <p:nvPr/>
        </p:nvSpPr>
        <p:spPr>
          <a:xfrm>
            <a:off x="2606040" y="5303520"/>
            <a:ext cx="365760" cy="365760"/>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5760720"/>
            <a:ext cx="4206240"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760720"/>
            <a:ext cx="3931920" cy="502920"/>
          </a:xfrm>
          <a:prstGeom prst="rect">
            <a:avLst/>
          </a:prstGeom>
          <a:noFill/>
        </p:spPr>
        <p:txBody>
          <a:bodyPr wrap="square" lIns="0" rIns="0" tIns="0" bIns="0" anchor="ctr">
            <a:spAutoFit/>
          </a:bodyPr>
          <a:lstStyle/>
          <a:p>
            <a:pPr algn="l"/>
            <a:r>
              <a:rPr sz="1200" b="1" i="0">
                <a:solidFill>
                  <a:srgbClr val="1C1F24"/>
                </a:solidFill>
                <a:latin typeface="Calibri"/>
              </a:rPr>
              <a:t>report · UI · trace of every query and model call</a:t>
            </a:r>
          </a:p>
        </p:txBody>
      </p:sp>
      <p:sp>
        <p:nvSpPr>
          <p:cNvPr id="24" name="TextBox 23"/>
          <p:cNvSpPr txBox="1"/>
          <p:nvPr/>
        </p:nvSpPr>
        <p:spPr>
          <a:xfrm>
            <a:off x="5486400" y="1280160"/>
            <a:ext cx="5943600" cy="320040"/>
          </a:xfrm>
          <a:prstGeom prst="rect">
            <a:avLst/>
          </a:prstGeom>
          <a:noFill/>
        </p:spPr>
        <p:txBody>
          <a:bodyPr wrap="square" lIns="0" rIns="0" tIns="0" bIns="0" anchor="t">
            <a:spAutoFit/>
          </a:bodyPr>
          <a:lstStyle/>
          <a:p>
            <a:pPr algn="l"/>
            <a:r>
              <a:rPr sz="1100" b="1" i="0">
                <a:solidFill>
                  <a:srgbClr val="FFFFFF"/>
                </a:solidFill>
                <a:latin typeface="Calibri"/>
              </a:rPr>
              <a:t>USED DURING THE INVESTIGATION</a:t>
            </a:r>
          </a:p>
        </p:txBody>
      </p:sp>
      <p:sp>
        <p:nvSpPr>
          <p:cNvPr id="25" name="Rounded Rectangle 24"/>
          <p:cNvSpPr/>
          <p:nvPr/>
        </p:nvSpPr>
        <p:spPr>
          <a:xfrm>
            <a:off x="5486400" y="1691640"/>
            <a:ext cx="61264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669280" y="1837944"/>
            <a:ext cx="475488" cy="475488"/>
          </a:xfrm>
          <a:prstGeom prst="ellipse">
            <a:avLst/>
          </a:prstGeom>
          <a:solidFill>
            <a:srgbClr val="2F6B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27" name="TextBox 26"/>
          <p:cNvSpPr txBox="1"/>
          <p:nvPr/>
        </p:nvSpPr>
        <p:spPr>
          <a:xfrm>
            <a:off x="6309360" y="1764792"/>
            <a:ext cx="5212080" cy="320040"/>
          </a:xfrm>
          <a:prstGeom prst="rect">
            <a:avLst/>
          </a:prstGeom>
          <a:noFill/>
        </p:spPr>
        <p:txBody>
          <a:bodyPr wrap="square" lIns="0" rIns="0" tIns="0" bIns="0" anchor="t">
            <a:spAutoFit/>
          </a:bodyPr>
          <a:lstStyle/>
          <a:p>
            <a:pPr algn="l"/>
            <a:r>
              <a:rPr sz="1400" b="1" i="0">
                <a:solidFill>
                  <a:srgbClr val="1C1F24"/>
                </a:solidFill>
                <a:latin typeface="Calibri"/>
              </a:rPr>
              <a:t>Meterless H-MEM</a:t>
            </a:r>
          </a:p>
        </p:txBody>
      </p:sp>
      <p:sp>
        <p:nvSpPr>
          <p:cNvPr id="28" name="TextBox 27"/>
          <p:cNvSpPr txBox="1"/>
          <p:nvPr/>
        </p:nvSpPr>
        <p:spPr>
          <a:xfrm>
            <a:off x="6309360" y="2093976"/>
            <a:ext cx="5212080" cy="320040"/>
          </a:xfrm>
          <a:prstGeom prst="rect">
            <a:avLst/>
          </a:prstGeom>
          <a:noFill/>
        </p:spPr>
        <p:txBody>
          <a:bodyPr wrap="square" lIns="0" rIns="0" tIns="0" bIns="0" anchor="t">
            <a:spAutoFit/>
          </a:bodyPr>
          <a:lstStyle/>
          <a:p>
            <a:pPr algn="l"/>
            <a:r>
              <a:rPr sz="1200" b="0" i="0">
                <a:solidFill>
                  <a:srgbClr val="5B6470"/>
                </a:solidFill>
                <a:latin typeface="Calibri"/>
              </a:rPr>
              <a:t>findings, provenance, analyst feedback</a:t>
            </a:r>
          </a:p>
        </p:txBody>
      </p:sp>
      <p:sp>
        <p:nvSpPr>
          <p:cNvPr id="29" name="Rounded Rectangle 28"/>
          <p:cNvSpPr/>
          <p:nvPr/>
        </p:nvSpPr>
        <p:spPr>
          <a:xfrm>
            <a:off x="5486400" y="2606040"/>
            <a:ext cx="61264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669280" y="2752344"/>
            <a:ext cx="475488" cy="475488"/>
          </a:xfrm>
          <a:prstGeom prst="ellipse">
            <a:avLst/>
          </a:prstGeom>
          <a:solidFill>
            <a:srgbClr val="2F6B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31" name="TextBox 30"/>
          <p:cNvSpPr txBox="1"/>
          <p:nvPr/>
        </p:nvSpPr>
        <p:spPr>
          <a:xfrm>
            <a:off x="6309360" y="2679192"/>
            <a:ext cx="5212080" cy="320040"/>
          </a:xfrm>
          <a:prstGeom prst="rect">
            <a:avLst/>
          </a:prstGeom>
          <a:noFill/>
        </p:spPr>
        <p:txBody>
          <a:bodyPr wrap="square" lIns="0" rIns="0" tIns="0" bIns="0" anchor="t">
            <a:spAutoFit/>
          </a:bodyPr>
          <a:lstStyle/>
          <a:p>
            <a:pPr algn="l"/>
            <a:r>
              <a:rPr sz="1400" b="1" i="0">
                <a:solidFill>
                  <a:srgbClr val="1C1F24"/>
                </a:solidFill>
                <a:latin typeface="Calibri"/>
              </a:rPr>
              <a:t>Meterless World Model</a:t>
            </a:r>
          </a:p>
        </p:txBody>
      </p:sp>
      <p:sp>
        <p:nvSpPr>
          <p:cNvPr id="32" name="TextBox 31"/>
          <p:cNvSpPr txBox="1"/>
          <p:nvPr/>
        </p:nvSpPr>
        <p:spPr>
          <a:xfrm>
            <a:off x="6309360" y="3008376"/>
            <a:ext cx="5212080" cy="320040"/>
          </a:xfrm>
          <a:prstGeom prst="rect">
            <a:avLst/>
          </a:prstGeom>
          <a:noFill/>
        </p:spPr>
        <p:txBody>
          <a:bodyPr wrap="square" lIns="0" rIns="0" tIns="0" bIns="0" anchor="t">
            <a:spAutoFit/>
          </a:bodyPr>
          <a:lstStyle/>
          <a:p>
            <a:pPr algn="l"/>
            <a:r>
              <a:rPr sz="1200" b="0" i="0">
                <a:solidFill>
                  <a:srgbClr val="5B6470"/>
                </a:solidFill>
                <a:latin typeface="Calibri"/>
              </a:rPr>
              <a:t>entities and their event history</a:t>
            </a:r>
          </a:p>
        </p:txBody>
      </p:sp>
      <p:sp>
        <p:nvSpPr>
          <p:cNvPr id="33" name="Rounded Rectangle 32"/>
          <p:cNvSpPr/>
          <p:nvPr/>
        </p:nvSpPr>
        <p:spPr>
          <a:xfrm>
            <a:off x="5486400" y="3520440"/>
            <a:ext cx="61264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669280" y="3666744"/>
            <a:ext cx="475488" cy="475488"/>
          </a:xfrm>
          <a:prstGeom prst="ellipse">
            <a:avLst/>
          </a:prstGeom>
          <a:solidFill>
            <a:srgbClr val="2F6B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35" name="TextBox 34"/>
          <p:cNvSpPr txBox="1"/>
          <p:nvPr/>
        </p:nvSpPr>
        <p:spPr>
          <a:xfrm>
            <a:off x="6309360" y="3593592"/>
            <a:ext cx="5212080" cy="320040"/>
          </a:xfrm>
          <a:prstGeom prst="rect">
            <a:avLst/>
          </a:prstGeom>
          <a:noFill/>
        </p:spPr>
        <p:txBody>
          <a:bodyPr wrap="square" lIns="0" rIns="0" tIns="0" bIns="0" anchor="t">
            <a:spAutoFit/>
          </a:bodyPr>
          <a:lstStyle/>
          <a:p>
            <a:pPr algn="l"/>
            <a:r>
              <a:rPr sz="1400" b="1" i="0">
                <a:solidFill>
                  <a:srgbClr val="1C1F24"/>
                </a:solidFill>
                <a:latin typeface="Calibri"/>
              </a:rPr>
              <a:t>Nightshift → NVIDIA Nemotron</a:t>
            </a:r>
          </a:p>
        </p:txBody>
      </p:sp>
      <p:sp>
        <p:nvSpPr>
          <p:cNvPr id="36" name="TextBox 35"/>
          <p:cNvSpPr txBox="1"/>
          <p:nvPr/>
        </p:nvSpPr>
        <p:spPr>
          <a:xfrm>
            <a:off x="6309360" y="3922776"/>
            <a:ext cx="5212080" cy="320040"/>
          </a:xfrm>
          <a:prstGeom prst="rect">
            <a:avLst/>
          </a:prstGeom>
          <a:noFill/>
        </p:spPr>
        <p:txBody>
          <a:bodyPr wrap="square" lIns="0" rIns="0" tIns="0" bIns="0" anchor="t">
            <a:spAutoFit/>
          </a:bodyPr>
          <a:lstStyle/>
          <a:p>
            <a:pPr algn="l"/>
            <a:r>
              <a:rPr sz="1200" b="0" i="0">
                <a:solidFill>
                  <a:srgbClr val="5B6470"/>
                </a:solidFill>
                <a:latin typeface="Calibri"/>
              </a:rPr>
              <a:t>drafting, second opinion, review</a:t>
            </a:r>
          </a:p>
        </p:txBody>
      </p:sp>
      <p:sp>
        <p:nvSpPr>
          <p:cNvPr id="37" name="TextBox 36"/>
          <p:cNvSpPr txBox="1"/>
          <p:nvPr/>
        </p:nvSpPr>
        <p:spPr>
          <a:xfrm>
            <a:off x="5486400" y="4526280"/>
            <a:ext cx="5943600" cy="320040"/>
          </a:xfrm>
          <a:prstGeom prst="rect">
            <a:avLst/>
          </a:prstGeom>
          <a:noFill/>
        </p:spPr>
        <p:txBody>
          <a:bodyPr wrap="square" lIns="0" rIns="0" tIns="0" bIns="0" anchor="t">
            <a:spAutoFit/>
          </a:bodyPr>
          <a:lstStyle/>
          <a:p>
            <a:pPr algn="l"/>
            <a:r>
              <a:rPr sz="1100" b="1" i="0">
                <a:solidFill>
                  <a:srgbClr val="FFFFFF"/>
                </a:solidFill>
                <a:latin typeface="Calibri"/>
              </a:rPr>
              <a:t>TECHNICAL STACK</a:t>
            </a:r>
          </a:p>
        </p:txBody>
      </p:sp>
      <p:sp>
        <p:nvSpPr>
          <p:cNvPr id="38" name="Rounded Rectangle 37"/>
          <p:cNvSpPr/>
          <p:nvPr/>
        </p:nvSpPr>
        <p:spPr>
          <a:xfrm>
            <a:off x="5486400" y="4892040"/>
            <a:ext cx="1444752"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1C1F24"/>
                </a:solidFill>
                <a:latin typeface="Calibri"/>
              </a:rPr>
              <a:t>Python</a:t>
            </a:r>
          </a:p>
        </p:txBody>
      </p:sp>
      <p:sp>
        <p:nvSpPr>
          <p:cNvPr id="39" name="Rounded Rectangle 38"/>
          <p:cNvSpPr/>
          <p:nvPr/>
        </p:nvSpPr>
        <p:spPr>
          <a:xfrm>
            <a:off x="7022592" y="4892040"/>
            <a:ext cx="1444752"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1C1F24"/>
                </a:solidFill>
                <a:latin typeface="Calibri"/>
              </a:rPr>
              <a:t>PostgreSQL ×3</a:t>
            </a:r>
          </a:p>
        </p:txBody>
      </p:sp>
      <p:sp>
        <p:nvSpPr>
          <p:cNvPr id="40" name="Rounded Rectangle 39"/>
          <p:cNvSpPr/>
          <p:nvPr/>
        </p:nvSpPr>
        <p:spPr>
          <a:xfrm>
            <a:off x="8558784" y="4892040"/>
            <a:ext cx="1444752"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1C1F24"/>
                </a:solidFill>
                <a:latin typeface="Calibri"/>
              </a:rPr>
              <a:t>Zetaris</a:t>
            </a:r>
          </a:p>
        </p:txBody>
      </p:sp>
      <p:sp>
        <p:nvSpPr>
          <p:cNvPr id="41" name="Rounded Rectangle 40"/>
          <p:cNvSpPr/>
          <p:nvPr/>
        </p:nvSpPr>
        <p:spPr>
          <a:xfrm>
            <a:off x="10094976" y="4892040"/>
            <a:ext cx="1444752"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1C1F24"/>
                </a:solidFill>
                <a:latin typeface="Calibri"/>
              </a:rPr>
              <a:t>Streamlit</a:t>
            </a:r>
          </a:p>
        </p:txBody>
      </p:sp>
      <p:sp>
        <p:nvSpPr>
          <p:cNvPr id="42" name="Rounded Rectangle 41"/>
          <p:cNvSpPr/>
          <p:nvPr/>
        </p:nvSpPr>
        <p:spPr>
          <a:xfrm>
            <a:off x="5486400" y="5394959"/>
            <a:ext cx="1444752"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1C1F24"/>
                </a:solidFill>
                <a:latin typeface="Calibri"/>
              </a:rPr>
              <a:t>CLI / HTTP</a:t>
            </a:r>
          </a:p>
        </p:txBody>
      </p:sp>
      <p:sp>
        <p:nvSpPr>
          <p:cNvPr id="43" name="Rounded Rectangle 42"/>
          <p:cNvSpPr/>
          <p:nvPr/>
        </p:nvSpPr>
        <p:spPr>
          <a:xfrm>
            <a:off x="7022592" y="5394959"/>
            <a:ext cx="1444752"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1C1F24"/>
                </a:solidFill>
                <a:latin typeface="Calibri"/>
              </a:rPr>
              <a:t>pytest</a:t>
            </a:r>
          </a:p>
        </p:txBody>
      </p:sp>
      <p:sp>
        <p:nvSpPr>
          <p:cNvPr id="44" name="Rounded Rectangle 43"/>
          <p:cNvSpPr/>
          <p:nvPr/>
        </p:nvSpPr>
        <p:spPr>
          <a:xfrm>
            <a:off x="8558784" y="5394959"/>
            <a:ext cx="1444752"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1C1F24"/>
                </a:solidFill>
                <a:latin typeface="Calibri"/>
              </a:rPr>
              <a:t>Docker</a:t>
            </a:r>
          </a:p>
        </p:txBody>
      </p:sp>
      <p:sp>
        <p:nvSpPr>
          <p:cNvPr id="45" name="TextBox 44"/>
          <p:cNvSpPr txBox="1"/>
          <p:nvPr/>
        </p:nvSpPr>
        <p:spPr>
          <a:xfrm>
            <a:off x="548640" y="6355080"/>
            <a:ext cx="11064240" cy="320040"/>
          </a:xfrm>
          <a:prstGeom prst="rect">
            <a:avLst/>
          </a:prstGeom>
          <a:noFill/>
        </p:spPr>
        <p:txBody>
          <a:bodyPr wrap="square" lIns="0" rIns="0" tIns="0" bIns="0" anchor="ctr">
            <a:spAutoFit/>
          </a:bodyPr>
          <a:lstStyle/>
          <a:p>
            <a:pPr algn="l"/>
            <a:r>
              <a:rPr sz="1000" b="0" i="0">
                <a:solidFill>
                  <a:srgbClr val="FFFFFF"/>
                </a:solidFill>
                <a:latin typeface="Calibri"/>
              </a:rPr>
              <a:t>Live investigations run over three independent PostgreSQL sample databases · offline mode uses a SQLite twin and deterministic model stubs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F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FFFFFF"/>
                </a:solidFill>
                <a:latin typeface="Calibri"/>
              </a:rPr>
              <a:t>The evidence decides what to retrieve next</a:t>
            </a:r>
          </a:p>
        </p:txBody>
      </p:sp>
      <p:sp>
        <p:nvSpPr>
          <p:cNvPr id="4" name="Pentagon 3"/>
          <p:cNvSpPr/>
          <p:nvPr/>
        </p:nvSpPr>
        <p:spPr>
          <a:xfrm>
            <a:off x="548640" y="1325880"/>
            <a:ext cx="1828800" cy="868680"/>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45720" wrap="square"/>
          <a:lstStyle/>
          <a:p>
            <a:pPr algn="ctr"/>
            <a:r>
              <a:rPr sz="1000" b="1">
                <a:solidFill>
                  <a:srgbClr val="2F6BE0"/>
                </a:solidFill>
                <a:latin typeface="Calibri"/>
              </a:rPr>
              <a:t>Identify alert
and account</a:t>
            </a:r>
          </a:p>
        </p:txBody>
      </p:sp>
      <p:sp>
        <p:nvSpPr>
          <p:cNvPr id="5" name="Chevron 4"/>
          <p:cNvSpPr/>
          <p:nvPr/>
        </p:nvSpPr>
        <p:spPr>
          <a:xfrm>
            <a:off x="2423160" y="1325880"/>
            <a:ext cx="1828800" cy="868680"/>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45720" wrap="square"/>
          <a:lstStyle/>
          <a:p>
            <a:pPr algn="ctr"/>
            <a:r>
              <a:rPr sz="1000" b="1">
                <a:solidFill>
                  <a:srgbClr val="2F6BE0"/>
                </a:solidFill>
                <a:latin typeface="Calibri"/>
              </a:rPr>
              <a:t>Dataset, policy,
cited ticket</a:t>
            </a:r>
          </a:p>
        </p:txBody>
      </p:sp>
      <p:sp>
        <p:nvSpPr>
          <p:cNvPr id="6" name="Chevron 5"/>
          <p:cNvSpPr/>
          <p:nvPr/>
        </p:nvSpPr>
        <p:spPr>
          <a:xfrm>
            <a:off x="4297679" y="1325880"/>
            <a:ext cx="1828800" cy="868680"/>
          </a:xfrm>
          <a:prstGeom prst="chevron">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45720" wrap="square"/>
          <a:lstStyle/>
          <a:p>
            <a:pPr algn="ctr"/>
            <a:r>
              <a:rPr sz="1000" b="1">
                <a:solidFill>
                  <a:srgbClr val="FFFFFF"/>
                </a:solidFill>
                <a:latin typeface="Calibri"/>
              </a:rPr>
              <a:t>Scope mismatch
detected</a:t>
            </a:r>
          </a:p>
        </p:txBody>
      </p:sp>
      <p:sp>
        <p:nvSpPr>
          <p:cNvPr id="7" name="Chevron 6"/>
          <p:cNvSpPr/>
          <p:nvPr/>
        </p:nvSpPr>
        <p:spPr>
          <a:xfrm>
            <a:off x="6172199" y="1325880"/>
            <a:ext cx="1828800" cy="868680"/>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45720" wrap="square"/>
          <a:lstStyle/>
          <a:p>
            <a:pPr algn="ctr"/>
            <a:r>
              <a:rPr sz="1000" b="1">
                <a:solidFill>
                  <a:srgbClr val="2F6BE0"/>
                </a:solidFill>
                <a:latin typeface="Calibri"/>
              </a:rPr>
              <a:t>Other tickets
and exceptions</a:t>
            </a:r>
          </a:p>
        </p:txBody>
      </p:sp>
      <p:sp>
        <p:nvSpPr>
          <p:cNvPr id="8" name="Chevron 7"/>
          <p:cNvSpPr/>
          <p:nvPr/>
        </p:nvSpPr>
        <p:spPr>
          <a:xfrm>
            <a:off x="8046719" y="1325880"/>
            <a:ext cx="1828800" cy="868680"/>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45720" wrap="square"/>
          <a:lstStyle/>
          <a:p>
            <a:pPr algn="ctr"/>
            <a:r>
              <a:rPr sz="1000" b="1">
                <a:solidFill>
                  <a:srgbClr val="2F6BE0"/>
                </a:solidFill>
                <a:latin typeface="Calibri"/>
              </a:rPr>
              <a:t>History and
destination</a:t>
            </a:r>
          </a:p>
        </p:txBody>
      </p:sp>
      <p:sp>
        <p:nvSpPr>
          <p:cNvPr id="9" name="Chevron 8"/>
          <p:cNvSpPr/>
          <p:nvPr/>
        </p:nvSpPr>
        <p:spPr>
          <a:xfrm>
            <a:off x="9921240" y="1325880"/>
            <a:ext cx="1828800" cy="868680"/>
          </a:xfrm>
          <a:prstGeom prst="chevron">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45720" wrap="square"/>
          <a:lstStyle/>
          <a:p>
            <a:pPr algn="ctr"/>
            <a:r>
              <a:rPr sz="1000" b="1">
                <a:solidFill>
                  <a:srgbClr val="FFFFFF"/>
                </a:solidFill>
                <a:latin typeface="Calibri"/>
              </a:rPr>
              <a:t>Verdict, opinion,
review</a:t>
            </a:r>
          </a:p>
        </p:txBody>
      </p:sp>
      <p:sp>
        <p:nvSpPr>
          <p:cNvPr id="10" name="Left Arrow 9"/>
          <p:cNvSpPr/>
          <p:nvPr/>
        </p:nvSpPr>
        <p:spPr>
          <a:xfrm>
            <a:off x="2468880" y="2331720"/>
            <a:ext cx="3657600" cy="320040"/>
          </a:xfrm>
          <a:prstGeom prst="leftArrow">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2697480"/>
            <a:ext cx="3840480" cy="457200"/>
          </a:xfrm>
          <a:prstGeom prst="rect">
            <a:avLst/>
          </a:prstGeom>
          <a:noFill/>
        </p:spPr>
        <p:txBody>
          <a:bodyPr wrap="square" lIns="0" rIns="0" tIns="0" bIns="0" anchor="t">
            <a:spAutoFit/>
          </a:bodyPr>
          <a:lstStyle/>
          <a:p>
            <a:pPr algn="l"/>
            <a:r>
              <a:rPr sz="1200" b="1" i="0">
                <a:solidFill>
                  <a:srgbClr val="FFD166"/>
                </a:solidFill>
                <a:latin typeface="Calibri"/>
              </a:rPr>
              <a:t>Evaluator → Planner  </a:t>
            </a:r>
            <a:r>
              <a:rPr sz="1200" b="0" i="0">
                <a:solidFill>
                  <a:srgbClr val="FFFFFF"/>
                </a:solidFill>
                <a:latin typeface="Calibri"/>
              </a:rPr>
              <a:t>fetch what is still needed</a:t>
            </a:r>
          </a:p>
        </p:txBody>
      </p:sp>
      <p:sp>
        <p:nvSpPr>
          <p:cNvPr id="12" name="Left Arrow 11"/>
          <p:cNvSpPr/>
          <p:nvPr/>
        </p:nvSpPr>
        <p:spPr>
          <a:xfrm>
            <a:off x="8138160" y="2331720"/>
            <a:ext cx="3108960" cy="320040"/>
          </a:xfrm>
          <a:prstGeom prst="leftArrow">
            <a:avLst/>
          </a:prstGeom>
          <a:solidFill>
            <a:srgbClr val="FFD1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697480"/>
            <a:ext cx="3566160" cy="457200"/>
          </a:xfrm>
          <a:prstGeom prst="rect">
            <a:avLst/>
          </a:prstGeom>
          <a:noFill/>
        </p:spPr>
        <p:txBody>
          <a:bodyPr wrap="square" lIns="0" rIns="0" tIns="0" bIns="0" anchor="t">
            <a:spAutoFit/>
          </a:bodyPr>
          <a:lstStyle/>
          <a:p>
            <a:pPr algn="l"/>
            <a:r>
              <a:rPr sz="1200" b="1" i="0">
                <a:solidFill>
                  <a:srgbClr val="FFD166"/>
                </a:solidFill>
                <a:latin typeface="Calibri"/>
              </a:rPr>
              <a:t>Critic → Reporter  </a:t>
            </a:r>
            <a:r>
              <a:rPr sz="1200" b="0" i="0">
                <a:solidFill>
                  <a:srgbClr val="FFFFFF"/>
                </a:solidFill>
                <a:latin typeface="Calibri"/>
              </a:rPr>
              <a:t>revise, review again</a:t>
            </a:r>
          </a:p>
        </p:txBody>
      </p:sp>
      <p:sp>
        <p:nvSpPr>
          <p:cNvPr id="14" name="Rounded Rectangle 13"/>
          <p:cNvSpPr/>
          <p:nvPr/>
        </p:nvSpPr>
        <p:spPr>
          <a:xfrm>
            <a:off x="576072" y="3319272"/>
            <a:ext cx="2697185" cy="2962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rop-al004-rounds-2144-672-3040-1664.png"/>
          <p:cNvPicPr>
            <a:picLocks noChangeAspect="1"/>
          </p:cNvPicPr>
          <p:nvPr/>
        </p:nvPicPr>
        <p:blipFill>
          <a:blip r:embed="rId2"/>
          <a:stretch>
            <a:fillRect/>
          </a:stretch>
        </p:blipFill>
        <p:spPr>
          <a:xfrm>
            <a:off x="685800" y="3429000"/>
            <a:ext cx="2477729" cy="2743200"/>
          </a:xfrm>
          <a:prstGeom prst="rect">
            <a:avLst/>
          </a:prstGeom>
        </p:spPr>
      </p:pic>
      <p:sp>
        <p:nvSpPr>
          <p:cNvPr id="16" name="TextBox 15"/>
          <p:cNvSpPr txBox="1"/>
          <p:nvPr/>
        </p:nvSpPr>
        <p:spPr>
          <a:xfrm>
            <a:off x="685800" y="6263640"/>
            <a:ext cx="3291840" cy="274320"/>
          </a:xfrm>
          <a:prstGeom prst="rect">
            <a:avLst/>
          </a:prstGeom>
          <a:noFill/>
        </p:spPr>
        <p:txBody>
          <a:bodyPr wrap="square" lIns="0" rIns="0" tIns="0" bIns="0" anchor="t">
            <a:spAutoFit/>
          </a:bodyPr>
          <a:lstStyle/>
          <a:p>
            <a:pPr algn="l"/>
            <a:r>
              <a:rPr sz="1000" b="0" i="0">
                <a:solidFill>
                  <a:srgbClr val="D7E4FA"/>
                </a:solidFill>
                <a:latin typeface="Calibri"/>
              </a:rPr>
              <a:t>the real AL-004 trace, round 1</a:t>
            </a:r>
          </a:p>
        </p:txBody>
      </p:sp>
      <p:sp>
        <p:nvSpPr>
          <p:cNvPr id="17" name="TextBox 16"/>
          <p:cNvSpPr txBox="1"/>
          <p:nvPr/>
        </p:nvSpPr>
        <p:spPr>
          <a:xfrm>
            <a:off x="4206240" y="3291840"/>
            <a:ext cx="7315200" cy="320040"/>
          </a:xfrm>
          <a:prstGeom prst="rect">
            <a:avLst/>
          </a:prstGeom>
          <a:noFill/>
        </p:spPr>
        <p:txBody>
          <a:bodyPr wrap="square" lIns="0" rIns="0" tIns="0" bIns="0" anchor="t">
            <a:spAutoFit/>
          </a:bodyPr>
          <a:lstStyle/>
          <a:p>
            <a:pPr algn="l"/>
            <a:r>
              <a:rPr sz="1100" b="1" i="0">
                <a:solidFill>
                  <a:srgbClr val="FFFFFF"/>
                </a:solidFill>
                <a:latin typeface="Calibri"/>
              </a:rPr>
              <a:t>CONTROL BOUNDARIES</a:t>
            </a:r>
          </a:p>
        </p:txBody>
      </p:sp>
      <p:sp>
        <p:nvSpPr>
          <p:cNvPr id="18" name="Oval 17"/>
          <p:cNvSpPr/>
          <p:nvPr/>
        </p:nvSpPr>
        <p:spPr>
          <a:xfrm>
            <a:off x="4206240" y="3694176"/>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F6BE0"/>
                </a:solidFill>
                <a:latin typeface="Calibri"/>
              </a:rPr>
              <a:t>§</a:t>
            </a:r>
          </a:p>
        </p:txBody>
      </p:sp>
      <p:sp>
        <p:nvSpPr>
          <p:cNvPr id="19" name="TextBox 18"/>
          <p:cNvSpPr txBox="1"/>
          <p:nvPr/>
        </p:nvSpPr>
        <p:spPr>
          <a:xfrm>
            <a:off x="4709160" y="3657600"/>
            <a:ext cx="6858000" cy="457200"/>
          </a:xfrm>
          <a:prstGeom prst="rect">
            <a:avLst/>
          </a:prstGeom>
          <a:noFill/>
        </p:spPr>
        <p:txBody>
          <a:bodyPr wrap="square" lIns="0" rIns="0" tIns="0" bIns="0" anchor="ctr">
            <a:spAutoFit/>
          </a:bodyPr>
          <a:lstStyle/>
          <a:p>
            <a:pPr algn="l"/>
            <a:r>
              <a:rPr sz="1300" b="0" i="0">
                <a:solidFill>
                  <a:srgbClr val="FFFFFF"/>
                </a:solidFill>
                <a:latin typeface="Calibri"/>
              </a:rPr>
              <a:t>Rules establish the base verdict</a:t>
            </a:r>
          </a:p>
        </p:txBody>
      </p:sp>
      <p:sp>
        <p:nvSpPr>
          <p:cNvPr id="20" name="Oval 19"/>
          <p:cNvSpPr/>
          <p:nvPr/>
        </p:nvSpPr>
        <p:spPr>
          <a:xfrm>
            <a:off x="4206240" y="4224528"/>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F6BE0"/>
                </a:solidFill>
                <a:latin typeface="Calibri"/>
              </a:rPr>
              <a:t>=</a:t>
            </a:r>
          </a:p>
        </p:txBody>
      </p:sp>
      <p:sp>
        <p:nvSpPr>
          <p:cNvPr id="21" name="TextBox 20"/>
          <p:cNvSpPr txBox="1"/>
          <p:nvPr/>
        </p:nvSpPr>
        <p:spPr>
          <a:xfrm>
            <a:off x="4709160" y="4187952"/>
            <a:ext cx="6858000" cy="457200"/>
          </a:xfrm>
          <a:prstGeom prst="rect">
            <a:avLst/>
          </a:prstGeom>
          <a:noFill/>
        </p:spPr>
        <p:txBody>
          <a:bodyPr wrap="square" lIns="0" rIns="0" tIns="0" bIns="0" anchor="ctr">
            <a:spAutoFit/>
          </a:bodyPr>
          <a:lstStyle/>
          <a:p>
            <a:pPr algn="l"/>
            <a:r>
              <a:rPr sz="1300" b="0" i="0">
                <a:solidFill>
                  <a:srgbClr val="FFFFFF"/>
                </a:solidFill>
                <a:latin typeface="Calibri"/>
              </a:rPr>
              <a:t>SQL drafts run only when identical to the vetted template</a:t>
            </a:r>
          </a:p>
        </p:txBody>
      </p:sp>
      <p:sp>
        <p:nvSpPr>
          <p:cNvPr id="22" name="Oval 21"/>
          <p:cNvSpPr/>
          <p:nvPr/>
        </p:nvSpPr>
        <p:spPr>
          <a:xfrm>
            <a:off x="4206240" y="4754880"/>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F6BE0"/>
                </a:solidFill>
                <a:latin typeface="Calibri"/>
              </a:rPr>
              <a:t>H</a:t>
            </a:r>
          </a:p>
        </p:txBody>
      </p:sp>
      <p:sp>
        <p:nvSpPr>
          <p:cNvPr id="23" name="TextBox 22"/>
          <p:cNvSpPr txBox="1"/>
          <p:nvPr/>
        </p:nvSpPr>
        <p:spPr>
          <a:xfrm>
            <a:off x="4709160" y="4718304"/>
            <a:ext cx="6858000" cy="457200"/>
          </a:xfrm>
          <a:prstGeom prst="rect">
            <a:avLst/>
          </a:prstGeom>
          <a:noFill/>
        </p:spPr>
        <p:txBody>
          <a:bodyPr wrap="square" lIns="0" rIns="0" tIns="0" bIns="0" anchor="ctr">
            <a:spAutoFit/>
          </a:bodyPr>
          <a:lstStyle/>
          <a:p>
            <a:pPr algn="l"/>
            <a:r>
              <a:rPr sz="1300" b="0" i="0">
                <a:solidFill>
                  <a:srgbClr val="FFFFFF"/>
                </a:solidFill>
                <a:latin typeface="Calibri"/>
              </a:rPr>
              <a:t>Unresolved model disagreement goes to human review</a:t>
            </a:r>
          </a:p>
        </p:txBody>
      </p:sp>
      <p:sp>
        <p:nvSpPr>
          <p:cNvPr id="24" name="Oval 23"/>
          <p:cNvSpPr/>
          <p:nvPr/>
        </p:nvSpPr>
        <p:spPr>
          <a:xfrm>
            <a:off x="4206240" y="5285232"/>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F6BE0"/>
                </a:solidFill>
                <a:latin typeface="Calibri"/>
              </a:rPr>
              <a:t>↩</a:t>
            </a:r>
          </a:p>
        </p:txBody>
      </p:sp>
      <p:sp>
        <p:nvSpPr>
          <p:cNvPr id="25" name="TextBox 24"/>
          <p:cNvSpPr txBox="1"/>
          <p:nvPr/>
        </p:nvSpPr>
        <p:spPr>
          <a:xfrm>
            <a:off x="4709160" y="5248656"/>
            <a:ext cx="6858000" cy="457200"/>
          </a:xfrm>
          <a:prstGeom prst="rect">
            <a:avLst/>
          </a:prstGeom>
          <a:noFill/>
        </p:spPr>
        <p:txBody>
          <a:bodyPr wrap="square" lIns="0" rIns="0" tIns="0" bIns="0" anchor="ctr">
            <a:spAutoFit/>
          </a:bodyPr>
          <a:lstStyle/>
          <a:p>
            <a:pPr algn="l"/>
            <a:r>
              <a:rPr sz="1300" b="0" i="0">
                <a:solidFill>
                  <a:srgbClr val="FFFFFF"/>
                </a:solidFill>
                <a:latin typeface="Calibri"/>
              </a:rPr>
              <a:t>Failed or unavailable review falls back to a deterministic summary</a:t>
            </a:r>
          </a:p>
        </p:txBody>
      </p:sp>
      <p:sp>
        <p:nvSpPr>
          <p:cNvPr id="26" name="Oval 25"/>
          <p:cNvSpPr/>
          <p:nvPr/>
        </p:nvSpPr>
        <p:spPr>
          <a:xfrm>
            <a:off x="4206240" y="5815584"/>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F6BE0"/>
                </a:solidFill>
                <a:latin typeface="Calibri"/>
              </a:rPr>
              <a:t>◷</a:t>
            </a:r>
          </a:p>
        </p:txBody>
      </p:sp>
      <p:sp>
        <p:nvSpPr>
          <p:cNvPr id="27" name="TextBox 26"/>
          <p:cNvSpPr txBox="1"/>
          <p:nvPr/>
        </p:nvSpPr>
        <p:spPr>
          <a:xfrm>
            <a:off x="4709160" y="5779008"/>
            <a:ext cx="6858000" cy="457200"/>
          </a:xfrm>
          <a:prstGeom prst="rect">
            <a:avLst/>
          </a:prstGeom>
          <a:noFill/>
        </p:spPr>
        <p:txBody>
          <a:bodyPr wrap="square" lIns="0" rIns="0" tIns="0" bIns="0" anchor="ctr">
            <a:spAutoFit/>
          </a:bodyPr>
          <a:lstStyle/>
          <a:p>
            <a:pPr algn="l"/>
            <a:r>
              <a:rPr sz="1300" b="0" i="0">
                <a:solidFill>
                  <a:srgbClr val="FFFFFF"/>
                </a:solidFill>
                <a:latin typeface="Calibri"/>
              </a:rPr>
              <a:t>3 rounds · 9 model calls · 480 s budget, checked before every call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FFFFFF"/>
                </a:solidFill>
                <a:latin typeface="Calibri"/>
              </a:rPr>
              <a:t>Zetaris: authorisation evidence across three systems</a:t>
            </a:r>
          </a:p>
        </p:txBody>
      </p:sp>
      <p:sp>
        <p:nvSpPr>
          <p:cNvPr id="4" name="Can 3"/>
          <p:cNvSpPr/>
          <p:nvPr/>
        </p:nvSpPr>
        <p:spPr>
          <a:xfrm>
            <a:off x="822960" y="1371600"/>
            <a:ext cx="731520" cy="73152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176272"/>
            <a:ext cx="1463040" cy="457200"/>
          </a:xfrm>
          <a:prstGeom prst="rect">
            <a:avLst/>
          </a:prstGeom>
          <a:noFill/>
        </p:spPr>
        <p:txBody>
          <a:bodyPr wrap="square" lIns="0" rIns="0" tIns="0" bIns="0" anchor="t">
            <a:spAutoFit/>
          </a:bodyPr>
          <a:lstStyle/>
          <a:p>
            <a:pPr algn="ctr"/>
            <a:r>
              <a:rPr sz="1200" b="1" i="0">
                <a:solidFill>
                  <a:srgbClr val="FFFFFF"/>
                </a:solidFill>
                <a:latin typeface="Calibri"/>
              </a:rPr>
              <a:t>logs</a:t>
            </a:r>
          </a:p>
        </p:txBody>
      </p:sp>
      <p:sp>
        <p:nvSpPr>
          <p:cNvPr id="6" name="Can 5"/>
          <p:cNvSpPr/>
          <p:nvPr/>
        </p:nvSpPr>
        <p:spPr>
          <a:xfrm>
            <a:off x="2011680" y="1371600"/>
            <a:ext cx="731520" cy="73152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176272"/>
            <a:ext cx="1463040" cy="457200"/>
          </a:xfrm>
          <a:prstGeom prst="rect">
            <a:avLst/>
          </a:prstGeom>
          <a:noFill/>
        </p:spPr>
        <p:txBody>
          <a:bodyPr wrap="square" lIns="0" rIns="0" tIns="0" bIns="0" anchor="t">
            <a:spAutoFit/>
          </a:bodyPr>
          <a:lstStyle/>
          <a:p>
            <a:pPr algn="ctr"/>
            <a:r>
              <a:rPr sz="1200" b="1" i="0">
                <a:solidFill>
                  <a:srgbClr val="FFFFFF"/>
                </a:solidFill>
                <a:latin typeface="Calibri"/>
              </a:rPr>
              <a:t>policy</a:t>
            </a:r>
          </a:p>
        </p:txBody>
      </p:sp>
      <p:sp>
        <p:nvSpPr>
          <p:cNvPr id="8" name="Can 7"/>
          <p:cNvSpPr/>
          <p:nvPr/>
        </p:nvSpPr>
        <p:spPr>
          <a:xfrm>
            <a:off x="3200400" y="1371600"/>
            <a:ext cx="731520" cy="731520"/>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2176272"/>
            <a:ext cx="1463040" cy="457200"/>
          </a:xfrm>
          <a:prstGeom prst="rect">
            <a:avLst/>
          </a:prstGeom>
          <a:noFill/>
        </p:spPr>
        <p:txBody>
          <a:bodyPr wrap="square" lIns="0" rIns="0" tIns="0" bIns="0" anchor="t">
            <a:spAutoFit/>
          </a:bodyPr>
          <a:lstStyle/>
          <a:p>
            <a:pPr algn="ctr"/>
            <a:r>
              <a:rPr sz="1200" b="1" i="0">
                <a:solidFill>
                  <a:srgbClr val="FFFFFF"/>
                </a:solidFill>
                <a:latin typeface="Calibri"/>
              </a:rPr>
              <a:t>tickets</a:t>
            </a:r>
          </a:p>
        </p:txBody>
      </p:sp>
      <p:sp>
        <p:nvSpPr>
          <p:cNvPr id="10" name="Down Arrow 9"/>
          <p:cNvSpPr/>
          <p:nvPr/>
        </p:nvSpPr>
        <p:spPr>
          <a:xfrm>
            <a:off x="1920240" y="2697480"/>
            <a:ext cx="365760" cy="365760"/>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3154680"/>
            <a:ext cx="3566160" cy="731520"/>
          </a:xfrm>
          <a:prstGeom prst="roundRect">
            <a:avLst>
              <a:gd name="adj" fmla="val 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154680"/>
            <a:ext cx="3291840" cy="731520"/>
          </a:xfrm>
          <a:prstGeom prst="rect">
            <a:avLst/>
          </a:prstGeom>
          <a:noFill/>
        </p:spPr>
        <p:txBody>
          <a:bodyPr wrap="square" lIns="0" rIns="0" tIns="0" bIns="0" anchor="ctr">
            <a:spAutoFit/>
          </a:bodyPr>
          <a:lstStyle/>
          <a:p>
            <a:pPr algn="l"/>
            <a:r>
              <a:rPr sz="1600" b="1" i="0">
                <a:solidFill>
                  <a:srgbClr val="FFFFFF"/>
                </a:solidFill>
                <a:latin typeface="Calibri"/>
              </a:rPr>
              <a:t>one schema  </a:t>
            </a:r>
            <a:r>
              <a:rPr sz="1400" b="0" i="0">
                <a:solidFill>
                  <a:srgbClr val="FFFFFF"/>
                </a:solidFill>
                <a:latin typeface="Courier New"/>
              </a:rPr>
              <a:t>dexa</a:t>
            </a:r>
          </a:p>
        </p:txBody>
      </p:sp>
      <p:sp>
        <p:nvSpPr>
          <p:cNvPr id="13" name="Down Arrow 12"/>
          <p:cNvSpPr/>
          <p:nvPr/>
        </p:nvSpPr>
        <p:spPr>
          <a:xfrm>
            <a:off x="1920240" y="3977639"/>
            <a:ext cx="365760" cy="365760"/>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4434840"/>
            <a:ext cx="3566160"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434840"/>
            <a:ext cx="3291840" cy="731520"/>
          </a:xfrm>
          <a:prstGeom prst="rect">
            <a:avLst/>
          </a:prstGeom>
          <a:noFill/>
        </p:spPr>
        <p:txBody>
          <a:bodyPr wrap="square" lIns="0" rIns="0" tIns="0" bIns="0" anchor="ctr">
            <a:spAutoFit/>
          </a:bodyPr>
          <a:lstStyle/>
          <a:p>
            <a:pPr algn="l"/>
            <a:r>
              <a:rPr sz="1200" b="0" i="0">
                <a:solidFill>
                  <a:srgbClr val="1C1F24"/>
                </a:solidFill>
                <a:latin typeface="Calibri"/>
              </a:rPr>
              <a:t>the agent writes SQL here, never a direct connection</a:t>
            </a:r>
          </a:p>
        </p:txBody>
      </p:sp>
      <p:sp>
        <p:nvSpPr>
          <p:cNvPr id="16" name="Rounded Rectangle 15"/>
          <p:cNvSpPr/>
          <p:nvPr/>
        </p:nvSpPr>
        <p:spPr>
          <a:xfrm>
            <a:off x="548640" y="5349240"/>
            <a:ext cx="356616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422392"/>
            <a:ext cx="3291840" cy="685800"/>
          </a:xfrm>
          <a:prstGeom prst="rect">
            <a:avLst/>
          </a:prstGeom>
          <a:noFill/>
        </p:spPr>
        <p:txBody>
          <a:bodyPr wrap="square" lIns="0" rIns="0" tIns="0" bIns="0" anchor="ctr">
            <a:spAutoFit/>
          </a:bodyPr>
          <a:lstStyle/>
          <a:p>
            <a:pPr algn="l"/>
            <a:r>
              <a:rPr sz="3400" b="1" i="0">
                <a:solidFill>
                  <a:srgbClr val="6B4FD3"/>
                </a:solidFill>
                <a:latin typeface="Calibri"/>
              </a:rPr>
              <a:t>13 / 13</a:t>
            </a:r>
          </a:p>
        </p:txBody>
      </p:sp>
      <p:sp>
        <p:nvSpPr>
          <p:cNvPr id="18" name="TextBox 17"/>
          <p:cNvSpPr txBox="1"/>
          <p:nvPr/>
        </p:nvSpPr>
        <p:spPr>
          <a:xfrm>
            <a:off x="685800" y="6099048"/>
            <a:ext cx="3291840" cy="320040"/>
          </a:xfrm>
          <a:prstGeom prst="rect">
            <a:avLst/>
          </a:prstGeom>
          <a:noFill/>
        </p:spPr>
        <p:txBody>
          <a:bodyPr wrap="square" lIns="0" rIns="0" tIns="0" bIns="0" anchor="t">
            <a:spAutoFit/>
          </a:bodyPr>
          <a:lstStyle/>
          <a:p>
            <a:pPr algn="l"/>
            <a:r>
              <a:rPr sz="1200" b="0" i="0">
                <a:solidFill>
                  <a:srgbClr val="5B6470"/>
                </a:solidFill>
                <a:latin typeface="Calibri"/>
              </a:rPr>
              <a:t>alerts on the federated backend, one saved trace each</a:t>
            </a:r>
          </a:p>
        </p:txBody>
      </p:sp>
      <p:sp>
        <p:nvSpPr>
          <p:cNvPr id="19" name="Rounded Rectangle 18"/>
          <p:cNvSpPr/>
          <p:nvPr/>
        </p:nvSpPr>
        <p:spPr>
          <a:xfrm>
            <a:off x="4572000" y="1371600"/>
            <a:ext cx="704088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754880" y="1572768"/>
            <a:ext cx="502920" cy="5029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21" name="TextBox 20"/>
          <p:cNvSpPr txBox="1"/>
          <p:nvPr/>
        </p:nvSpPr>
        <p:spPr>
          <a:xfrm>
            <a:off x="5440680" y="1481328"/>
            <a:ext cx="6035040" cy="320040"/>
          </a:xfrm>
          <a:prstGeom prst="rect">
            <a:avLst/>
          </a:prstGeom>
          <a:noFill/>
        </p:spPr>
        <p:txBody>
          <a:bodyPr wrap="square" lIns="0" rIns="0" tIns="0" bIns="0" anchor="t">
            <a:spAutoFit/>
          </a:bodyPr>
          <a:lstStyle/>
          <a:p>
            <a:pPr algn="l"/>
            <a:r>
              <a:rPr sz="1400" b="1" i="0">
                <a:solidFill>
                  <a:srgbClr val="1C1F24"/>
                </a:solidFill>
                <a:latin typeface="Calibri"/>
              </a:rPr>
              <a:t>Three databases as JDBC data sources</a:t>
            </a:r>
          </a:p>
        </p:txBody>
      </p:sp>
      <p:sp>
        <p:nvSpPr>
          <p:cNvPr id="22" name="TextBox 21"/>
          <p:cNvSpPr txBox="1"/>
          <p:nvPr/>
        </p:nvSpPr>
        <p:spPr>
          <a:xfrm>
            <a:off x="5440680" y="1828800"/>
            <a:ext cx="6035040" cy="365760"/>
          </a:xfrm>
          <a:prstGeom prst="rect">
            <a:avLst/>
          </a:prstGeom>
          <a:noFill/>
        </p:spPr>
        <p:txBody>
          <a:bodyPr wrap="square" lIns="0" rIns="0" tIns="0" bIns="0" anchor="t">
            <a:spAutoFit/>
          </a:bodyPr>
          <a:lstStyle/>
          <a:p>
            <a:pPr algn="l"/>
            <a:r>
              <a:rPr sz="1200" b="0" i="0">
                <a:solidFill>
                  <a:srgbClr val="5B6470"/>
                </a:solidFill>
                <a:latin typeface="Calibri"/>
              </a:rPr>
              <a:t>one access point for the investigation</a:t>
            </a:r>
          </a:p>
        </p:txBody>
      </p:sp>
      <p:sp>
        <p:nvSpPr>
          <p:cNvPr id="23" name="Rounded Rectangle 22"/>
          <p:cNvSpPr/>
          <p:nvPr/>
        </p:nvSpPr>
        <p:spPr>
          <a:xfrm>
            <a:off x="4572000" y="2423160"/>
            <a:ext cx="704088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54880" y="2624328"/>
            <a:ext cx="502920" cy="5029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25" name="TextBox 24"/>
          <p:cNvSpPr txBox="1"/>
          <p:nvPr/>
        </p:nvSpPr>
        <p:spPr>
          <a:xfrm>
            <a:off x="5440680" y="2532888"/>
            <a:ext cx="6035040" cy="320040"/>
          </a:xfrm>
          <a:prstGeom prst="rect">
            <a:avLst/>
          </a:prstGeom>
          <a:noFill/>
        </p:spPr>
        <p:txBody>
          <a:bodyPr wrap="square" lIns="0" rIns="0" tIns="0" bIns="0" anchor="t">
            <a:spAutoFit/>
          </a:bodyPr>
          <a:lstStyle/>
          <a:p>
            <a:pPr algn="l"/>
            <a:r>
              <a:rPr sz="1400" b="1" i="0">
                <a:solidFill>
                  <a:srgbClr val="1C1F24"/>
                </a:solidFill>
                <a:latin typeface="Calibri"/>
              </a:rPr>
              <a:t>One schema for logs, policy and tickets</a:t>
            </a:r>
          </a:p>
        </p:txBody>
      </p:sp>
      <p:sp>
        <p:nvSpPr>
          <p:cNvPr id="26" name="TextBox 25"/>
          <p:cNvSpPr txBox="1"/>
          <p:nvPr/>
        </p:nvSpPr>
        <p:spPr>
          <a:xfrm>
            <a:off x="5440680" y="2880360"/>
            <a:ext cx="6035040" cy="365760"/>
          </a:xfrm>
          <a:prstGeom prst="rect">
            <a:avLst/>
          </a:prstGeom>
          <a:noFill/>
        </p:spPr>
        <p:txBody>
          <a:bodyPr wrap="square" lIns="0" rIns="0" tIns="0" bIns="0" anchor="t">
            <a:spAutoFit/>
          </a:bodyPr>
          <a:lstStyle/>
          <a:p>
            <a:pPr algn="l"/>
            <a:r>
              <a:rPr sz="1200" b="0" i="0">
                <a:solidFill>
                  <a:srgbClr val="5B6470"/>
                </a:solidFill>
                <a:latin typeface="Calibri"/>
              </a:rPr>
              <a:t>a consistent query interface for every role</a:t>
            </a:r>
          </a:p>
        </p:txBody>
      </p:sp>
      <p:sp>
        <p:nvSpPr>
          <p:cNvPr id="27" name="Rounded Rectangle 26"/>
          <p:cNvSpPr/>
          <p:nvPr/>
        </p:nvSpPr>
        <p:spPr>
          <a:xfrm>
            <a:off x="4572000" y="3474720"/>
            <a:ext cx="704088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54880" y="3675887"/>
            <a:ext cx="502920" cy="5029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29" name="TextBox 28"/>
          <p:cNvSpPr txBox="1"/>
          <p:nvPr/>
        </p:nvSpPr>
        <p:spPr>
          <a:xfrm>
            <a:off x="5440680" y="3584448"/>
            <a:ext cx="6035040" cy="320040"/>
          </a:xfrm>
          <a:prstGeom prst="rect">
            <a:avLst/>
          </a:prstGeom>
          <a:noFill/>
        </p:spPr>
        <p:txBody>
          <a:bodyPr wrap="square" lIns="0" rIns="0" tIns="0" bIns="0" anchor="t">
            <a:spAutoFit/>
          </a:bodyPr>
          <a:lstStyle/>
          <a:p>
            <a:pPr algn="l"/>
            <a:r>
              <a:rPr sz="1400" b="1" i="0">
                <a:solidFill>
                  <a:srgbClr val="1C1F24"/>
                </a:solidFill>
                <a:latin typeface="Calibri"/>
              </a:rPr>
              <a:t>Cross-source policy and cited-ticket joins</a:t>
            </a:r>
          </a:p>
        </p:txBody>
      </p:sp>
      <p:sp>
        <p:nvSpPr>
          <p:cNvPr id="30" name="TextBox 29"/>
          <p:cNvSpPr txBox="1"/>
          <p:nvPr/>
        </p:nvSpPr>
        <p:spPr>
          <a:xfrm>
            <a:off x="5440680" y="3931920"/>
            <a:ext cx="6035040" cy="365760"/>
          </a:xfrm>
          <a:prstGeom prst="rect">
            <a:avLst/>
          </a:prstGeom>
          <a:noFill/>
        </p:spPr>
        <p:txBody>
          <a:bodyPr wrap="square" lIns="0" rIns="0" tIns="0" bIns="0" anchor="t">
            <a:spAutoFit/>
          </a:bodyPr>
          <a:lstStyle/>
          <a:p>
            <a:pPr algn="l"/>
            <a:r>
              <a:rPr sz="1200" b="0" i="0">
                <a:solidFill>
                  <a:srgbClr val="5B6470"/>
                </a:solidFill>
                <a:latin typeface="Calibri"/>
              </a:rPr>
              <a:t>export events and authorisation records checked together</a:t>
            </a:r>
          </a:p>
        </p:txBody>
      </p:sp>
      <p:sp>
        <p:nvSpPr>
          <p:cNvPr id="31" name="Rounded Rectangle 30"/>
          <p:cNvSpPr/>
          <p:nvPr/>
        </p:nvSpPr>
        <p:spPr>
          <a:xfrm>
            <a:off x="4572000" y="4526279"/>
            <a:ext cx="704088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754880" y="4727447"/>
            <a:ext cx="502920" cy="5029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33" name="TextBox 32"/>
          <p:cNvSpPr txBox="1"/>
          <p:nvPr/>
        </p:nvSpPr>
        <p:spPr>
          <a:xfrm>
            <a:off x="5440680" y="4636007"/>
            <a:ext cx="6035040" cy="320040"/>
          </a:xfrm>
          <a:prstGeom prst="rect">
            <a:avLst/>
          </a:prstGeom>
          <a:noFill/>
        </p:spPr>
        <p:txBody>
          <a:bodyPr wrap="square" lIns="0" rIns="0" tIns="0" bIns="0" anchor="t">
            <a:spAutoFit/>
          </a:bodyPr>
          <a:lstStyle/>
          <a:p>
            <a:pPr algn="l"/>
            <a:r>
              <a:rPr sz="1400" b="1" i="0">
                <a:solidFill>
                  <a:srgbClr val="1C1F24"/>
                </a:solidFill>
                <a:latin typeface="Calibri"/>
              </a:rPr>
              <a:t>Results returned per query</a:t>
            </a:r>
          </a:p>
        </p:txBody>
      </p:sp>
      <p:sp>
        <p:nvSpPr>
          <p:cNvPr id="34" name="TextBox 33"/>
          <p:cNvSpPr txBox="1"/>
          <p:nvPr/>
        </p:nvSpPr>
        <p:spPr>
          <a:xfrm>
            <a:off x="5440680" y="4983479"/>
            <a:ext cx="6035040" cy="365760"/>
          </a:xfrm>
          <a:prstGeom prst="rect">
            <a:avLst/>
          </a:prstGeom>
          <a:noFill/>
        </p:spPr>
        <p:txBody>
          <a:bodyPr wrap="square" lIns="0" rIns="0" tIns="0" bIns="0" anchor="t">
            <a:spAutoFit/>
          </a:bodyPr>
          <a:lstStyle/>
          <a:p>
            <a:pPr algn="l"/>
            <a:r>
              <a:rPr sz="1200" b="0" i="0">
                <a:solidFill>
                  <a:srgbClr val="5B6470"/>
                </a:solidFill>
                <a:latin typeface="Calibri"/>
              </a:rPr>
              <a:t>the agent numbers each step and cites it on the evidence line</a:t>
            </a:r>
          </a:p>
        </p:txBody>
      </p:sp>
      <p:sp>
        <p:nvSpPr>
          <p:cNvPr id="35" name="TextBox 34"/>
          <p:cNvSpPr txBox="1"/>
          <p:nvPr/>
        </p:nvSpPr>
        <p:spPr>
          <a:xfrm>
            <a:off x="4572000" y="5669280"/>
            <a:ext cx="7040880" cy="457200"/>
          </a:xfrm>
          <a:prstGeom prst="rect">
            <a:avLst/>
          </a:prstGeom>
          <a:noFill/>
        </p:spPr>
        <p:txBody>
          <a:bodyPr wrap="square" lIns="0" rIns="0" tIns="0" bIns="0" anchor="t">
            <a:spAutoFit/>
          </a:bodyPr>
          <a:lstStyle/>
          <a:p>
            <a:pPr algn="l"/>
            <a:r>
              <a:rPr sz="1200" b="0" i="1">
                <a:solidFill>
                  <a:srgbClr val="FFFFFF"/>
                </a:solidFill>
                <a:latin typeface="Calibri"/>
              </a:rPr>
              <a:t>Grounding pattern: facts from Zetaris first, then an answer that traces back to the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FFFFFF"/>
                </a:solidFill>
                <a:latin typeface="Calibri"/>
              </a:rPr>
              <a:t>Meterless and Nemotron: context, corrections and review</a:t>
            </a:r>
          </a:p>
        </p:txBody>
      </p:sp>
      <p:sp>
        <p:nvSpPr>
          <p:cNvPr id="4" name="Rounded Rectangle 3"/>
          <p:cNvSpPr/>
          <p:nvPr/>
        </p:nvSpPr>
        <p:spPr>
          <a:xfrm>
            <a:off x="548640" y="1325880"/>
            <a:ext cx="3566160" cy="2514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508760"/>
            <a:ext cx="502920" cy="5029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6" name="TextBox 5"/>
          <p:cNvSpPr txBox="1"/>
          <p:nvPr/>
        </p:nvSpPr>
        <p:spPr>
          <a:xfrm>
            <a:off x="1371600" y="1463040"/>
            <a:ext cx="2651760" cy="594360"/>
          </a:xfrm>
          <a:prstGeom prst="rect">
            <a:avLst/>
          </a:prstGeom>
          <a:noFill/>
        </p:spPr>
        <p:txBody>
          <a:bodyPr wrap="square" lIns="0" rIns="0" tIns="0" bIns="0" anchor="ctr">
            <a:spAutoFit/>
          </a:bodyPr>
          <a:lstStyle/>
          <a:p>
            <a:pPr algn="l"/>
            <a:r>
              <a:rPr sz="1500" b="1" i="0">
                <a:solidFill>
                  <a:srgbClr val="1C1F24"/>
                </a:solidFill>
                <a:latin typeface="Calibri"/>
              </a:rPr>
              <a:t>Meterless H-MEM</a:t>
            </a:r>
          </a:p>
        </p:txBody>
      </p:sp>
      <p:sp>
        <p:nvSpPr>
          <p:cNvPr id="7" name="TextBox 6"/>
          <p:cNvSpPr txBox="1"/>
          <p:nvPr/>
        </p:nvSpPr>
        <p:spPr>
          <a:xfrm>
            <a:off x="777240" y="2148840"/>
            <a:ext cx="3108960" cy="822960"/>
          </a:xfrm>
          <a:prstGeom prst="rect">
            <a:avLst/>
          </a:prstGeom>
          <a:noFill/>
        </p:spPr>
        <p:txBody>
          <a:bodyPr wrap="square" lIns="0" rIns="0" tIns="0" bIns="0" anchor="t">
            <a:spAutoFit/>
          </a:bodyPr>
          <a:lstStyle/>
          <a:p>
            <a:pPr algn="l"/>
            <a:r>
              <a:rPr sz="1200" b="0" i="0">
                <a:solidFill>
                  <a:srgbClr val="1C1F24"/>
                </a:solidFill>
                <a:latin typeface="Calibri"/>
              </a:rPr>
              <a:t>Keeps findings, provenance and analyst corrections for later investigations</a:t>
            </a:r>
          </a:p>
        </p:txBody>
      </p:sp>
      <p:sp>
        <p:nvSpPr>
          <p:cNvPr id="8" name="TextBox 7"/>
          <p:cNvSpPr txBox="1"/>
          <p:nvPr/>
        </p:nvSpPr>
        <p:spPr>
          <a:xfrm>
            <a:off x="777240" y="3017520"/>
            <a:ext cx="3108960" cy="777240"/>
          </a:xfrm>
          <a:prstGeom prst="rect">
            <a:avLst/>
          </a:prstGeom>
          <a:noFill/>
        </p:spPr>
        <p:txBody>
          <a:bodyPr wrap="square" lIns="0" rIns="0" tIns="0" bIns="0" anchor="t">
            <a:spAutoFit/>
          </a:bodyPr>
          <a:lstStyle/>
          <a:p>
            <a:pPr algn="l"/>
            <a:r>
              <a:rPr sz="1100" b="0" i="1">
                <a:solidFill>
                  <a:srgbClr val="6B4FD3"/>
                </a:solidFill>
                <a:latin typeface="Calibri"/>
              </a:rPr>
              <a:t>Shown: a fact marked wrong, its confidence change, the ledger entry</a:t>
            </a:r>
          </a:p>
        </p:txBody>
      </p:sp>
      <p:sp>
        <p:nvSpPr>
          <p:cNvPr id="9" name="Rounded Rectangle 8"/>
          <p:cNvSpPr/>
          <p:nvPr/>
        </p:nvSpPr>
        <p:spPr>
          <a:xfrm>
            <a:off x="4297679" y="1325880"/>
            <a:ext cx="3566160" cy="2514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80559" y="1508760"/>
            <a:ext cx="502920" cy="5029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1" name="TextBox 10"/>
          <p:cNvSpPr txBox="1"/>
          <p:nvPr/>
        </p:nvSpPr>
        <p:spPr>
          <a:xfrm>
            <a:off x="5120640" y="1463040"/>
            <a:ext cx="2651760" cy="594360"/>
          </a:xfrm>
          <a:prstGeom prst="rect">
            <a:avLst/>
          </a:prstGeom>
          <a:noFill/>
        </p:spPr>
        <p:txBody>
          <a:bodyPr wrap="square" lIns="0" rIns="0" tIns="0" bIns="0" anchor="ctr">
            <a:spAutoFit/>
          </a:bodyPr>
          <a:lstStyle/>
          <a:p>
            <a:pPr algn="l"/>
            <a:r>
              <a:rPr sz="1500" b="1" i="0">
                <a:solidFill>
                  <a:srgbClr val="1C1F24"/>
                </a:solidFill>
                <a:latin typeface="Calibri"/>
              </a:rPr>
              <a:t>Meterless World Model</a:t>
            </a:r>
          </a:p>
        </p:txBody>
      </p:sp>
      <p:sp>
        <p:nvSpPr>
          <p:cNvPr id="12" name="TextBox 11"/>
          <p:cNvSpPr txBox="1"/>
          <p:nvPr/>
        </p:nvSpPr>
        <p:spPr>
          <a:xfrm>
            <a:off x="4526279" y="2148840"/>
            <a:ext cx="3108960" cy="822960"/>
          </a:xfrm>
          <a:prstGeom prst="rect">
            <a:avLst/>
          </a:prstGeom>
          <a:noFill/>
        </p:spPr>
        <p:txBody>
          <a:bodyPr wrap="square" lIns="0" rIns="0" tIns="0" bIns="0" anchor="t">
            <a:spAutoFit/>
          </a:bodyPr>
          <a:lstStyle/>
          <a:p>
            <a:pPr algn="l"/>
            <a:r>
              <a:rPr sz="1200" b="0" i="0">
                <a:solidFill>
                  <a:srgbClr val="1C1F24"/>
                </a:solidFill>
                <a:latin typeface="Calibri"/>
              </a:rPr>
              <a:t>Connects the current alert to the account's earlier activity</a:t>
            </a:r>
          </a:p>
        </p:txBody>
      </p:sp>
      <p:sp>
        <p:nvSpPr>
          <p:cNvPr id="13" name="TextBox 12"/>
          <p:cNvSpPr txBox="1"/>
          <p:nvPr/>
        </p:nvSpPr>
        <p:spPr>
          <a:xfrm>
            <a:off x="4526279" y="3017520"/>
            <a:ext cx="3108960" cy="777240"/>
          </a:xfrm>
          <a:prstGeom prst="rect">
            <a:avLst/>
          </a:prstGeom>
          <a:noFill/>
        </p:spPr>
        <p:txBody>
          <a:bodyPr wrap="square" lIns="0" rIns="0" tIns="0" bIns="0" anchor="t">
            <a:spAutoFit/>
          </a:bodyPr>
          <a:lstStyle/>
          <a:p>
            <a:pPr algn="l"/>
            <a:r>
              <a:rPr sz="1100" b="0" i="1">
                <a:solidFill>
                  <a:srgbClr val="6B4FD3"/>
                </a:solidFill>
                <a:latin typeface="Calibri"/>
              </a:rPr>
              <a:t>Shown: an earlier alert on the same account inside the current investigation</a:t>
            </a:r>
          </a:p>
        </p:txBody>
      </p:sp>
      <p:sp>
        <p:nvSpPr>
          <p:cNvPr id="14" name="Rounded Rectangle 13"/>
          <p:cNvSpPr/>
          <p:nvPr/>
        </p:nvSpPr>
        <p:spPr>
          <a:xfrm>
            <a:off x="8046719" y="1325880"/>
            <a:ext cx="3566160" cy="2514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9" y="1508760"/>
            <a:ext cx="502920" cy="5029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6" name="TextBox 15"/>
          <p:cNvSpPr txBox="1"/>
          <p:nvPr/>
        </p:nvSpPr>
        <p:spPr>
          <a:xfrm>
            <a:off x="8869680" y="1463040"/>
            <a:ext cx="2651760" cy="594360"/>
          </a:xfrm>
          <a:prstGeom prst="rect">
            <a:avLst/>
          </a:prstGeom>
          <a:noFill/>
        </p:spPr>
        <p:txBody>
          <a:bodyPr wrap="square" lIns="0" rIns="0" tIns="0" bIns="0" anchor="ctr">
            <a:spAutoFit/>
          </a:bodyPr>
          <a:lstStyle/>
          <a:p>
            <a:pPr algn="l"/>
            <a:r>
              <a:rPr sz="1500" b="1" i="0">
                <a:solidFill>
                  <a:srgbClr val="1C1F24"/>
                </a:solidFill>
                <a:latin typeface="Calibri"/>
              </a:rPr>
              <a:t>Nightshift → NVIDIA Nemotron</a:t>
            </a:r>
          </a:p>
        </p:txBody>
      </p:sp>
      <p:sp>
        <p:nvSpPr>
          <p:cNvPr id="17" name="TextBox 16"/>
          <p:cNvSpPr txBox="1"/>
          <p:nvPr/>
        </p:nvSpPr>
        <p:spPr>
          <a:xfrm>
            <a:off x="8275319" y="2148840"/>
            <a:ext cx="3108960" cy="822960"/>
          </a:xfrm>
          <a:prstGeom prst="rect">
            <a:avLst/>
          </a:prstGeom>
          <a:noFill/>
        </p:spPr>
        <p:txBody>
          <a:bodyPr wrap="square" lIns="0" rIns="0" tIns="0" bIns="0" anchor="t">
            <a:spAutoFit/>
          </a:bodyPr>
          <a:lstStyle/>
          <a:p>
            <a:pPr algn="l"/>
            <a:r>
              <a:rPr sz="1200" b="0" i="0">
                <a:solidFill>
                  <a:srgbClr val="1C1F24"/>
                </a:solidFill>
                <a:latin typeface="Calibri"/>
              </a:rPr>
              <a:t>Drafts SQL, gives an independent second opinion, drafts and reviews the summary</a:t>
            </a:r>
          </a:p>
        </p:txBody>
      </p:sp>
      <p:sp>
        <p:nvSpPr>
          <p:cNvPr id="18" name="TextBox 17"/>
          <p:cNvSpPr txBox="1"/>
          <p:nvPr/>
        </p:nvSpPr>
        <p:spPr>
          <a:xfrm>
            <a:off x="8275319" y="3017520"/>
            <a:ext cx="3108960" cy="777240"/>
          </a:xfrm>
          <a:prstGeom prst="rect">
            <a:avLst/>
          </a:prstGeom>
          <a:noFill/>
        </p:spPr>
        <p:txBody>
          <a:bodyPr wrap="square" lIns="0" rIns="0" tIns="0" bIns="0" anchor="t">
            <a:spAutoFit/>
          </a:bodyPr>
          <a:lstStyle/>
          <a:p>
            <a:pPr algn="l"/>
            <a:r>
              <a:rPr sz="1100" b="0" i="1">
                <a:solidFill>
                  <a:srgbClr val="6B4FD3"/>
                </a:solidFill>
                <a:latin typeface="Calibri"/>
              </a:rPr>
              <a:t>Shown: the AL-004 model-call records and the 6/9 → 9/9 revision</a:t>
            </a:r>
          </a:p>
        </p:txBody>
      </p:sp>
      <p:sp>
        <p:nvSpPr>
          <p:cNvPr id="19" name="Rounded Rectangle 18"/>
          <p:cNvSpPr/>
          <p:nvPr/>
        </p:nvSpPr>
        <p:spPr>
          <a:xfrm>
            <a:off x="576072" y="4096511"/>
            <a:ext cx="2609088" cy="213969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rop-al004-ledger-2144-630-3040-1350.png"/>
          <p:cNvPicPr>
            <a:picLocks noChangeAspect="1"/>
          </p:cNvPicPr>
          <p:nvPr/>
        </p:nvPicPr>
        <p:blipFill>
          <a:blip r:embed="rId2"/>
          <a:stretch>
            <a:fillRect/>
          </a:stretch>
        </p:blipFill>
        <p:spPr>
          <a:xfrm>
            <a:off x="685800" y="4206240"/>
            <a:ext cx="2389632" cy="1920240"/>
          </a:xfrm>
          <a:prstGeom prst="rect">
            <a:avLst/>
          </a:prstGeom>
        </p:spPr>
      </p:pic>
      <p:sp>
        <p:nvSpPr>
          <p:cNvPr id="21" name="TextBox 20"/>
          <p:cNvSpPr txBox="1"/>
          <p:nvPr/>
        </p:nvSpPr>
        <p:spPr>
          <a:xfrm>
            <a:off x="4572000" y="4069080"/>
            <a:ext cx="7040880" cy="320040"/>
          </a:xfrm>
          <a:prstGeom prst="rect">
            <a:avLst/>
          </a:prstGeom>
          <a:noFill/>
        </p:spPr>
        <p:txBody>
          <a:bodyPr wrap="square" lIns="0" rIns="0" tIns="0" bIns="0" anchor="t">
            <a:spAutoFit/>
          </a:bodyPr>
          <a:lstStyle/>
          <a:p>
            <a:pPr algn="l"/>
            <a:r>
              <a:rPr sz="1100" b="1" i="0">
                <a:solidFill>
                  <a:srgbClr val="FFFFFF"/>
                </a:solidFill>
                <a:latin typeface="Calibri"/>
              </a:rPr>
              <a:t>MODEL BOUNDARIES</a:t>
            </a:r>
          </a:p>
        </p:txBody>
      </p:sp>
      <p:sp>
        <p:nvSpPr>
          <p:cNvPr id="22" name="Oval 21"/>
          <p:cNvSpPr/>
          <p:nvPr/>
        </p:nvSpPr>
        <p:spPr>
          <a:xfrm>
            <a:off x="4572000" y="4480560"/>
            <a:ext cx="411480" cy="4114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D7412E"/>
                </a:solidFill>
                <a:latin typeface="Calibri"/>
              </a:rPr>
              <a:t>✕</a:t>
            </a:r>
          </a:p>
        </p:txBody>
      </p:sp>
      <p:sp>
        <p:nvSpPr>
          <p:cNvPr id="23" name="TextBox 22"/>
          <p:cNvSpPr txBox="1"/>
          <p:nvPr/>
        </p:nvSpPr>
        <p:spPr>
          <a:xfrm>
            <a:off x="5120640" y="4434840"/>
            <a:ext cx="6400800" cy="502920"/>
          </a:xfrm>
          <a:prstGeom prst="rect">
            <a:avLst/>
          </a:prstGeom>
          <a:noFill/>
        </p:spPr>
        <p:txBody>
          <a:bodyPr wrap="square" lIns="0" rIns="0" tIns="0" bIns="0" anchor="ctr">
            <a:spAutoFit/>
          </a:bodyPr>
          <a:lstStyle/>
          <a:p>
            <a:pPr algn="l"/>
            <a:r>
              <a:rPr sz="1300" b="0" i="0">
                <a:solidFill>
                  <a:srgbClr val="FFFFFF"/>
                </a:solidFill>
                <a:latin typeface="Calibri"/>
              </a:rPr>
              <a:t>The model cannot turn a rules-based block into compliant</a:t>
            </a:r>
          </a:p>
        </p:txBody>
      </p:sp>
      <p:sp>
        <p:nvSpPr>
          <p:cNvPr id="24" name="Oval 23"/>
          <p:cNvSpPr/>
          <p:nvPr/>
        </p:nvSpPr>
        <p:spPr>
          <a:xfrm>
            <a:off x="4572000" y="5029200"/>
            <a:ext cx="411480" cy="4114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6B4FD3"/>
                </a:solidFill>
                <a:latin typeface="Calibri"/>
              </a:rPr>
              <a:t>↩</a:t>
            </a:r>
          </a:p>
        </p:txBody>
      </p:sp>
      <p:sp>
        <p:nvSpPr>
          <p:cNvPr id="25" name="TextBox 24"/>
          <p:cNvSpPr txBox="1"/>
          <p:nvPr/>
        </p:nvSpPr>
        <p:spPr>
          <a:xfrm>
            <a:off x="5120640" y="4983480"/>
            <a:ext cx="6400800" cy="502920"/>
          </a:xfrm>
          <a:prstGeom prst="rect">
            <a:avLst/>
          </a:prstGeom>
          <a:noFill/>
        </p:spPr>
        <p:txBody>
          <a:bodyPr wrap="square" lIns="0" rIns="0" tIns="0" bIns="0" anchor="ctr">
            <a:spAutoFit/>
          </a:bodyPr>
          <a:lstStyle/>
          <a:p>
            <a:pPr algn="l"/>
            <a:r>
              <a:rPr sz="1300" b="0" i="0">
                <a:solidFill>
                  <a:srgbClr val="FFFFFF"/>
                </a:solidFill>
                <a:latin typeface="Calibri"/>
              </a:rPr>
              <a:t>A summary that fails review is replaced by a deterministic one</a:t>
            </a:r>
          </a:p>
        </p:txBody>
      </p:sp>
      <p:sp>
        <p:nvSpPr>
          <p:cNvPr id="26" name="TextBox 25"/>
          <p:cNvSpPr txBox="1"/>
          <p:nvPr/>
        </p:nvSpPr>
        <p:spPr>
          <a:xfrm>
            <a:off x="4572000" y="5532120"/>
            <a:ext cx="7040880" cy="777240"/>
          </a:xfrm>
          <a:prstGeom prst="rect">
            <a:avLst/>
          </a:prstGeom>
          <a:noFill/>
        </p:spPr>
        <p:txBody>
          <a:bodyPr wrap="square" lIns="0" rIns="0" tIns="0" bIns="0" anchor="t">
            <a:spAutoFit/>
          </a:bodyPr>
          <a:lstStyle/>
          <a:p>
            <a:pPr algn="l"/>
            <a:r>
              <a:rPr sz="1000" b="0" i="0">
                <a:solidFill>
                  <a:srgbClr val="E4DDFA"/>
                </a:solidFill>
                <a:latin typeface="Calibri"/>
              </a:rPr>
              <a:t>Recorded model ids:  nvidia/nemotron-3-ultra-550b-a55b</a:t>
            </a:r>
          </a:p>
          <a:p>
            <a:pPr algn="l"/>
            <a:r>
              <a:rPr sz="1000" b="0" i="0">
                <a:solidFill>
                  <a:srgbClr val="E4DDFA"/>
                </a:solidFill>
                <a:latin typeface="Calibri"/>
              </a:rPr>
              <a:t>nvidia/nemotron-3.5-super-vl-120b-a12b  ·  nvidia/nemotron-3.5-lightning-30b-a3b</a:t>
            </a:r>
          </a:p>
        </p:txBody>
      </p:sp>
      <p:sp>
        <p:nvSpPr>
          <p:cNvPr id="27" name="TextBox 26"/>
          <p:cNvSpPr txBox="1"/>
          <p:nvPr/>
        </p:nvSpPr>
        <p:spPr>
          <a:xfrm>
            <a:off x="548640" y="6355080"/>
            <a:ext cx="11064240" cy="320040"/>
          </a:xfrm>
          <a:prstGeom prst="rect">
            <a:avLst/>
          </a:prstGeom>
          <a:noFill/>
        </p:spPr>
        <p:txBody>
          <a:bodyPr wrap="square" lIns="0" rIns="0" tIns="0" bIns="0" anchor="ctr">
            <a:spAutoFit/>
          </a:bodyPr>
          <a:lstStyle/>
          <a:p>
            <a:pPr algn="l"/>
            <a:r>
              <a:rPr sz="1000" b="0" i="0">
                <a:solidFill>
                  <a:srgbClr val="FFFFFF"/>
                </a:solidFill>
                <a:latin typeface="Calibri"/>
              </a:rPr>
              <a:t>H-MEM and World Model are Python implementations of the specifications, checked with the conformance cases · every successful model call keeps its routed model and receipt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A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FFFFFF"/>
                </a:solidFill>
                <a:latin typeface="Calibri"/>
              </a:rPr>
              <a:t>What we have validated</a:t>
            </a:r>
          </a:p>
        </p:txBody>
      </p:sp>
      <p:sp>
        <p:nvSpPr>
          <p:cNvPr id="4" name="Rounded Rectangle 3"/>
          <p:cNvSpPr/>
          <p:nvPr/>
        </p:nvSpPr>
        <p:spPr>
          <a:xfrm>
            <a:off x="548640" y="1325880"/>
            <a:ext cx="4754880" cy="44348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685800" y="1417320"/>
          <a:ext cx="4480560" cy="3749039"/>
        </p:xfrm>
        <a:graphic>
          <a:graphicData uri="http://schemas.openxmlformats.org/drawingml/2006/chart">
            <c:chart xmlns:c="http://schemas.openxmlformats.org/drawingml/2006/chart" r:id="rId2"/>
          </a:graphicData>
        </a:graphic>
      </p:graphicFrame>
      <p:sp>
        <p:nvSpPr>
          <p:cNvPr id="6" name="TextBox 5"/>
          <p:cNvSpPr txBox="1"/>
          <p:nvPr/>
        </p:nvSpPr>
        <p:spPr>
          <a:xfrm>
            <a:off x="685800" y="5212080"/>
            <a:ext cx="4480560" cy="457200"/>
          </a:xfrm>
          <a:prstGeom prst="rect">
            <a:avLst/>
          </a:prstGeom>
          <a:noFill/>
        </p:spPr>
        <p:txBody>
          <a:bodyPr wrap="square" lIns="0" rIns="0" tIns="0" bIns="0" anchor="t">
            <a:spAutoFit/>
          </a:bodyPr>
          <a:lstStyle/>
          <a:p>
            <a:pPr algn="l"/>
            <a:r>
              <a:rPr sz="1300" b="1" i="0">
                <a:solidFill>
                  <a:srgbClr val="1FA463"/>
                </a:solidFill>
                <a:latin typeface="Calibri"/>
              </a:rPr>
              <a:t>about 96% fewer sensitive-column reads, identical verdicts</a:t>
            </a:r>
          </a:p>
        </p:txBody>
      </p:sp>
      <p:sp>
        <p:nvSpPr>
          <p:cNvPr id="7" name="Rounded Rectangle 6"/>
          <p:cNvSpPr/>
          <p:nvPr/>
        </p:nvSpPr>
        <p:spPr>
          <a:xfrm>
            <a:off x="5669280" y="1325880"/>
            <a:ext cx="288036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06440" y="1399032"/>
            <a:ext cx="2606040" cy="685800"/>
          </a:xfrm>
          <a:prstGeom prst="rect">
            <a:avLst/>
          </a:prstGeom>
          <a:noFill/>
        </p:spPr>
        <p:txBody>
          <a:bodyPr wrap="square" lIns="0" rIns="0" tIns="0" bIns="0" anchor="ctr">
            <a:spAutoFit/>
          </a:bodyPr>
          <a:lstStyle/>
          <a:p>
            <a:pPr algn="l"/>
            <a:r>
              <a:rPr sz="3000" b="1" i="0">
                <a:solidFill>
                  <a:srgbClr val="1FA463"/>
                </a:solidFill>
                <a:latin typeface="Calibri"/>
              </a:rPr>
              <a:t>13 / 13</a:t>
            </a:r>
          </a:p>
        </p:txBody>
      </p:sp>
      <p:sp>
        <p:nvSpPr>
          <p:cNvPr id="9" name="TextBox 8"/>
          <p:cNvSpPr txBox="1"/>
          <p:nvPr/>
        </p:nvSpPr>
        <p:spPr>
          <a:xfrm>
            <a:off x="5806440" y="2075688"/>
            <a:ext cx="2606040" cy="320040"/>
          </a:xfrm>
          <a:prstGeom prst="rect">
            <a:avLst/>
          </a:prstGeom>
          <a:noFill/>
        </p:spPr>
        <p:txBody>
          <a:bodyPr wrap="square" lIns="0" rIns="0" tIns="0" bIns="0" anchor="t">
            <a:spAutoFit/>
          </a:bodyPr>
          <a:lstStyle/>
          <a:p>
            <a:pPr algn="l"/>
            <a:r>
              <a:rPr sz="1200" b="0" i="0">
                <a:solidFill>
                  <a:srgbClr val="5B6470"/>
                </a:solidFill>
                <a:latin typeface="Calibri"/>
              </a:rPr>
              <a:t>verdicts match on live Zetaris, stub model</a:t>
            </a:r>
          </a:p>
        </p:txBody>
      </p:sp>
      <p:sp>
        <p:nvSpPr>
          <p:cNvPr id="10" name="Rounded Rectangle 9"/>
          <p:cNvSpPr/>
          <p:nvPr/>
        </p:nvSpPr>
        <p:spPr>
          <a:xfrm>
            <a:off x="8686800" y="1325880"/>
            <a:ext cx="288036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23960" y="1399032"/>
            <a:ext cx="2606040" cy="685800"/>
          </a:xfrm>
          <a:prstGeom prst="rect">
            <a:avLst/>
          </a:prstGeom>
          <a:noFill/>
        </p:spPr>
        <p:txBody>
          <a:bodyPr wrap="square" lIns="0" rIns="0" tIns="0" bIns="0" anchor="ctr">
            <a:spAutoFit/>
          </a:bodyPr>
          <a:lstStyle/>
          <a:p>
            <a:pPr algn="l"/>
            <a:r>
              <a:rPr sz="3000" b="1" i="0">
                <a:solidFill>
                  <a:srgbClr val="1FA463"/>
                </a:solidFill>
                <a:latin typeface="Calibri"/>
              </a:rPr>
              <a:t>13 / 13</a:t>
            </a:r>
          </a:p>
        </p:txBody>
      </p:sp>
      <p:sp>
        <p:nvSpPr>
          <p:cNvPr id="12" name="TextBox 11"/>
          <p:cNvSpPr txBox="1"/>
          <p:nvPr/>
        </p:nvSpPr>
        <p:spPr>
          <a:xfrm>
            <a:off x="8823960" y="2075688"/>
            <a:ext cx="2606040" cy="320040"/>
          </a:xfrm>
          <a:prstGeom prst="rect">
            <a:avLst/>
          </a:prstGeom>
          <a:noFill/>
        </p:spPr>
        <p:txBody>
          <a:bodyPr wrap="square" lIns="0" rIns="0" tIns="0" bIns="0" anchor="t">
            <a:spAutoFit/>
          </a:bodyPr>
          <a:lstStyle/>
          <a:p>
            <a:pPr algn="l"/>
            <a:r>
              <a:rPr sz="1200" b="0" i="0">
                <a:solidFill>
                  <a:srgbClr val="5B6470"/>
                </a:solidFill>
                <a:latin typeface="Calibri"/>
              </a:rPr>
              <a:t>with Nemotron drafting the SQL</a:t>
            </a:r>
          </a:p>
        </p:txBody>
      </p:sp>
      <p:sp>
        <p:nvSpPr>
          <p:cNvPr id="13" name="Rounded Rectangle 12"/>
          <p:cNvSpPr/>
          <p:nvPr/>
        </p:nvSpPr>
        <p:spPr>
          <a:xfrm>
            <a:off x="5669280" y="2651760"/>
            <a:ext cx="288036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06440" y="2724912"/>
            <a:ext cx="2606040" cy="685800"/>
          </a:xfrm>
          <a:prstGeom prst="rect">
            <a:avLst/>
          </a:prstGeom>
          <a:noFill/>
        </p:spPr>
        <p:txBody>
          <a:bodyPr wrap="square" lIns="0" rIns="0" tIns="0" bIns="0" anchor="ctr">
            <a:spAutoFit/>
          </a:bodyPr>
          <a:lstStyle/>
          <a:p>
            <a:pPr algn="l"/>
            <a:r>
              <a:rPr sz="3000" b="1" i="0">
                <a:solidFill>
                  <a:srgbClr val="1FA463"/>
                </a:solidFill>
                <a:latin typeface="Calibri"/>
              </a:rPr>
              <a:t>156 / 156</a:t>
            </a:r>
          </a:p>
        </p:txBody>
      </p:sp>
      <p:sp>
        <p:nvSpPr>
          <p:cNvPr id="15" name="TextBox 14"/>
          <p:cNvSpPr txBox="1"/>
          <p:nvPr/>
        </p:nvSpPr>
        <p:spPr>
          <a:xfrm>
            <a:off x="5806440" y="3401568"/>
            <a:ext cx="2606040" cy="320040"/>
          </a:xfrm>
          <a:prstGeom prst="rect">
            <a:avLst/>
          </a:prstGeom>
          <a:noFill/>
        </p:spPr>
        <p:txBody>
          <a:bodyPr wrap="square" lIns="0" rIns="0" tIns="0" bIns="0" anchor="t">
            <a:spAutoFit/>
          </a:bodyPr>
          <a:lstStyle/>
          <a:p>
            <a:pPr algn="l"/>
            <a:r>
              <a:rPr sz="1200" b="0" i="0">
                <a:solidFill>
                  <a:srgbClr val="5B6470"/>
                </a:solidFill>
                <a:latin typeface="Calibri"/>
              </a:rPr>
              <a:t>twelve generated seeds, offline</a:t>
            </a:r>
          </a:p>
        </p:txBody>
      </p:sp>
      <p:sp>
        <p:nvSpPr>
          <p:cNvPr id="16" name="Rounded Rectangle 15"/>
          <p:cNvSpPr/>
          <p:nvPr/>
        </p:nvSpPr>
        <p:spPr>
          <a:xfrm>
            <a:off x="8686800" y="2651760"/>
            <a:ext cx="288036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2724912"/>
            <a:ext cx="2606040" cy="685800"/>
          </a:xfrm>
          <a:prstGeom prst="rect">
            <a:avLst/>
          </a:prstGeom>
          <a:noFill/>
        </p:spPr>
        <p:txBody>
          <a:bodyPr wrap="square" lIns="0" rIns="0" tIns="0" bIns="0" anchor="ctr">
            <a:spAutoFit/>
          </a:bodyPr>
          <a:lstStyle/>
          <a:p>
            <a:pPr algn="l"/>
            <a:r>
              <a:rPr sz="3000" b="1" i="0">
                <a:solidFill>
                  <a:srgbClr val="1FA463"/>
                </a:solidFill>
                <a:latin typeface="Calibri"/>
              </a:rPr>
              <a:t>231 s · 7 calls</a:t>
            </a:r>
          </a:p>
        </p:txBody>
      </p:sp>
      <p:sp>
        <p:nvSpPr>
          <p:cNvPr id="18" name="TextBox 17"/>
          <p:cNvSpPr txBox="1"/>
          <p:nvPr/>
        </p:nvSpPr>
        <p:spPr>
          <a:xfrm>
            <a:off x="8823960" y="3401568"/>
            <a:ext cx="2606040" cy="320040"/>
          </a:xfrm>
          <a:prstGeom prst="rect">
            <a:avLst/>
          </a:prstGeom>
          <a:noFill/>
        </p:spPr>
        <p:txBody>
          <a:bodyPr wrap="square" lIns="0" rIns="0" tIns="0" bIns="0" anchor="t">
            <a:spAutoFit/>
          </a:bodyPr>
          <a:lstStyle/>
          <a:p>
            <a:pPr algn="l"/>
            <a:r>
              <a:rPr sz="1200" b="0" i="0">
                <a:solidFill>
                  <a:srgbClr val="5B6470"/>
                </a:solidFill>
                <a:latin typeface="Calibri"/>
              </a:rPr>
              <a:t>AL-004 live run, Critic 6/9 → 9/9</a:t>
            </a:r>
          </a:p>
        </p:txBody>
      </p:sp>
      <p:sp>
        <p:nvSpPr>
          <p:cNvPr id="19" name="TextBox 18"/>
          <p:cNvSpPr txBox="1"/>
          <p:nvPr/>
        </p:nvSpPr>
        <p:spPr>
          <a:xfrm>
            <a:off x="5669280" y="4114800"/>
            <a:ext cx="5943600" cy="320040"/>
          </a:xfrm>
          <a:prstGeom prst="rect">
            <a:avLst/>
          </a:prstGeom>
          <a:noFill/>
        </p:spPr>
        <p:txBody>
          <a:bodyPr wrap="square" lIns="0" rIns="0" tIns="0" bIns="0" anchor="t">
            <a:spAutoFit/>
          </a:bodyPr>
          <a:lstStyle/>
          <a:p>
            <a:pPr algn="l"/>
            <a:r>
              <a:rPr sz="1100" b="1" i="0">
                <a:solidFill>
                  <a:srgbClr val="FFFFFF"/>
                </a:solidFill>
                <a:latin typeface="Calibri"/>
              </a:rPr>
              <a:t>FAILURE BEHAVIOUR IS VISIBLE</a:t>
            </a:r>
          </a:p>
        </p:txBody>
      </p:sp>
      <p:sp>
        <p:nvSpPr>
          <p:cNvPr id="20" name="Oval 19"/>
          <p:cNvSpPr/>
          <p:nvPr/>
        </p:nvSpPr>
        <p:spPr>
          <a:xfrm>
            <a:off x="5669280" y="4517136"/>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FA463"/>
                </a:solidFill>
                <a:latin typeface="Calibri"/>
              </a:rPr>
              <a:t>!</a:t>
            </a:r>
          </a:p>
        </p:txBody>
      </p:sp>
      <p:sp>
        <p:nvSpPr>
          <p:cNvPr id="21" name="TextBox 20"/>
          <p:cNvSpPr txBox="1"/>
          <p:nvPr/>
        </p:nvSpPr>
        <p:spPr>
          <a:xfrm>
            <a:off x="6172200" y="4480560"/>
            <a:ext cx="5394960" cy="457200"/>
          </a:xfrm>
          <a:prstGeom prst="rect">
            <a:avLst/>
          </a:prstGeom>
          <a:noFill/>
        </p:spPr>
        <p:txBody>
          <a:bodyPr wrap="square" lIns="0" rIns="0" tIns="0" bIns="0" anchor="ctr">
            <a:spAutoFit/>
          </a:bodyPr>
          <a:lstStyle/>
          <a:p>
            <a:pPr algn="l"/>
            <a:r>
              <a:rPr sz="1200" b="0" i="0">
                <a:solidFill>
                  <a:srgbClr val="FFFFFF"/>
                </a:solidFill>
                <a:latin typeface="Calibri"/>
              </a:rPr>
              <a:t>An unreachable critical source is reported, never guessed around</a:t>
            </a:r>
          </a:p>
        </p:txBody>
      </p:sp>
      <p:sp>
        <p:nvSpPr>
          <p:cNvPr id="22" name="Oval 21"/>
          <p:cNvSpPr/>
          <p:nvPr/>
        </p:nvSpPr>
        <p:spPr>
          <a:xfrm>
            <a:off x="5669280" y="5020056"/>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FA463"/>
                </a:solidFill>
                <a:latin typeface="Calibri"/>
              </a:rPr>
              <a:t>◷</a:t>
            </a:r>
          </a:p>
        </p:txBody>
      </p:sp>
      <p:sp>
        <p:nvSpPr>
          <p:cNvPr id="23" name="TextBox 22"/>
          <p:cNvSpPr txBox="1"/>
          <p:nvPr/>
        </p:nvSpPr>
        <p:spPr>
          <a:xfrm>
            <a:off x="6172200" y="4983480"/>
            <a:ext cx="5394960" cy="457200"/>
          </a:xfrm>
          <a:prstGeom prst="rect">
            <a:avLst/>
          </a:prstGeom>
          <a:noFill/>
        </p:spPr>
        <p:txBody>
          <a:bodyPr wrap="square" lIns="0" rIns="0" tIns="0" bIns="0" anchor="ctr">
            <a:spAutoFit/>
          </a:bodyPr>
          <a:lstStyle/>
          <a:p>
            <a:pPr algn="l"/>
            <a:r>
              <a:rPr sz="1200" b="0" i="0">
                <a:solidFill>
                  <a:srgbClr val="FFFFFF"/>
                </a:solidFill>
                <a:latin typeface="Calibri"/>
              </a:rPr>
              <a:t>A spent budget names the evidence it did not retrieve</a:t>
            </a:r>
          </a:p>
        </p:txBody>
      </p:sp>
      <p:sp>
        <p:nvSpPr>
          <p:cNvPr id="24" name="Oval 23"/>
          <p:cNvSpPr/>
          <p:nvPr/>
        </p:nvSpPr>
        <p:spPr>
          <a:xfrm>
            <a:off x="5669280" y="5522976"/>
            <a:ext cx="384048" cy="3840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FA463"/>
                </a:solidFill>
                <a:latin typeface="Calibri"/>
              </a:rPr>
              <a:t>H</a:t>
            </a:r>
          </a:p>
        </p:txBody>
      </p:sp>
      <p:sp>
        <p:nvSpPr>
          <p:cNvPr id="25" name="TextBox 24"/>
          <p:cNvSpPr txBox="1"/>
          <p:nvPr/>
        </p:nvSpPr>
        <p:spPr>
          <a:xfrm>
            <a:off x="6172200" y="5486400"/>
            <a:ext cx="5394960" cy="457200"/>
          </a:xfrm>
          <a:prstGeom prst="rect">
            <a:avLst/>
          </a:prstGeom>
          <a:noFill/>
        </p:spPr>
        <p:txBody>
          <a:bodyPr wrap="square" lIns="0" rIns="0" tIns="0" bIns="0" anchor="ctr">
            <a:spAutoFit/>
          </a:bodyPr>
          <a:lstStyle/>
          <a:p>
            <a:pPr algn="l"/>
            <a:r>
              <a:rPr sz="1200" b="0" i="0">
                <a:solidFill>
                  <a:srgbClr val="FFFFFF"/>
                </a:solidFill>
                <a:latin typeface="Calibri"/>
              </a:rPr>
              <a:t>Unresolved model disagreement goes to human review</a:t>
            </a:r>
          </a:p>
        </p:txBody>
      </p:sp>
      <p:sp>
        <p:nvSpPr>
          <p:cNvPr id="26" name="Rounded Rectangle 25"/>
          <p:cNvSpPr/>
          <p:nvPr/>
        </p:nvSpPr>
        <p:spPr>
          <a:xfrm>
            <a:off x="5669280" y="5989320"/>
            <a:ext cx="2011680" cy="347472"/>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FFFFFF"/>
                </a:solidFill>
                <a:latin typeface="Calibri"/>
              </a:rPr>
              <a:t>64 tests pass</a:t>
            </a:r>
          </a:p>
        </p:txBody>
      </p:sp>
      <p:sp>
        <p:nvSpPr>
          <p:cNvPr id="27" name="TextBox 26"/>
          <p:cNvSpPr txBox="1"/>
          <p:nvPr/>
        </p:nvSpPr>
        <p:spPr>
          <a:xfrm>
            <a:off x="548640" y="6355080"/>
            <a:ext cx="11064240" cy="320040"/>
          </a:xfrm>
          <a:prstGeom prst="rect">
            <a:avLst/>
          </a:prstGeom>
          <a:noFill/>
        </p:spPr>
        <p:txBody>
          <a:bodyPr wrap="square" lIns="0" rIns="0" tIns="0" bIns="0" anchor="ctr">
            <a:spAutoFit/>
          </a:bodyPr>
          <a:lstStyle/>
          <a:p>
            <a:pPr algn="l"/>
            <a:r>
              <a:rPr sz="1000" b="0" i="0">
                <a:solidFill>
                  <a:srgbClr val="FFFFFF"/>
                </a:solidFill>
                <a:latin typeface="Calibri"/>
              </a:rPr>
              <a:t>Synthetic sources and policies, ten generated scenarios · production accuracy, analyst time saved and customer ROI are not measured yet · routing and latency vary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64240" cy="731520"/>
          </a:xfrm>
          <a:prstGeom prst="rect">
            <a:avLst/>
          </a:prstGeom>
          <a:noFill/>
        </p:spPr>
        <p:txBody>
          <a:bodyPr wrap="square" lIns="0" rIns="0" tIns="0" bIns="0" anchor="ctr">
            <a:spAutoFit/>
          </a:bodyPr>
          <a:lstStyle/>
          <a:p>
            <a:pPr algn="l"/>
            <a:r>
              <a:rPr sz="3000" b="1" i="0">
                <a:solidFill>
                  <a:srgbClr val="FFFFFF"/>
                </a:solidFill>
                <a:latin typeface="Calibri"/>
              </a:rPr>
              <a:t>Next: validate the workflow with a security team</a:t>
            </a:r>
          </a:p>
        </p:txBody>
      </p:sp>
      <p:sp>
        <p:nvSpPr>
          <p:cNvPr id="4" name="Pentagon 3"/>
          <p:cNvSpPr/>
          <p:nvPr/>
        </p:nvSpPr>
        <p:spPr>
          <a:xfrm>
            <a:off x="548640" y="1325880"/>
            <a:ext cx="3611880" cy="731520"/>
          </a:xfrm>
          <a:prstGeom prst="homePlate">
            <a:avLst/>
          </a:prstGeom>
          <a:solidFill>
            <a:srgbClr val="1FA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Prototype today</a:t>
            </a:r>
          </a:p>
        </p:txBody>
      </p:sp>
      <p:sp>
        <p:nvSpPr>
          <p:cNvPr id="5" name="Rounded Rectangle 4"/>
          <p:cNvSpPr/>
          <p:nvPr/>
        </p:nvSpPr>
        <p:spPr>
          <a:xfrm>
            <a:off x="548640" y="2194560"/>
            <a:ext cx="3611880" cy="2011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377440"/>
            <a:ext cx="274320" cy="274320"/>
          </a:xfrm>
          <a:prstGeom prst="ellipse">
            <a:avLst/>
          </a:prstGeom>
          <a:solidFill>
            <a:srgbClr val="1FA4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7" name="TextBox 6"/>
          <p:cNvSpPr txBox="1"/>
          <p:nvPr/>
        </p:nvSpPr>
        <p:spPr>
          <a:xfrm>
            <a:off x="1097280" y="2331720"/>
            <a:ext cx="2926080" cy="365760"/>
          </a:xfrm>
          <a:prstGeom prst="rect">
            <a:avLst/>
          </a:prstGeom>
          <a:noFill/>
        </p:spPr>
        <p:txBody>
          <a:bodyPr wrap="square" lIns="0" rIns="0" tIns="0" bIns="0" anchor="ctr">
            <a:spAutoFit/>
          </a:bodyPr>
          <a:lstStyle/>
          <a:p>
            <a:pPr algn="l"/>
            <a:r>
              <a:rPr sz="1200" b="0" i="0">
                <a:solidFill>
                  <a:srgbClr val="1C1F24"/>
                </a:solidFill>
                <a:latin typeface="Calibri"/>
              </a:rPr>
              <a:t>cross-source authorisation checks</a:t>
            </a:r>
          </a:p>
        </p:txBody>
      </p:sp>
      <p:sp>
        <p:nvSpPr>
          <p:cNvPr id="8" name="Oval 7"/>
          <p:cNvSpPr/>
          <p:nvPr/>
        </p:nvSpPr>
        <p:spPr>
          <a:xfrm>
            <a:off x="731520" y="2834640"/>
            <a:ext cx="274320" cy="274320"/>
          </a:xfrm>
          <a:prstGeom prst="ellipse">
            <a:avLst/>
          </a:prstGeom>
          <a:solidFill>
            <a:srgbClr val="1FA4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9" name="TextBox 8"/>
          <p:cNvSpPr txBox="1"/>
          <p:nvPr/>
        </p:nvSpPr>
        <p:spPr>
          <a:xfrm>
            <a:off x="1097280" y="2788920"/>
            <a:ext cx="2926080" cy="365760"/>
          </a:xfrm>
          <a:prstGeom prst="rect">
            <a:avLst/>
          </a:prstGeom>
          <a:noFill/>
        </p:spPr>
        <p:txBody>
          <a:bodyPr wrap="square" lIns="0" rIns="0" tIns="0" bIns="0" anchor="ctr">
            <a:spAutoFit/>
          </a:bodyPr>
          <a:lstStyle/>
          <a:p>
            <a:pPr algn="l"/>
            <a:r>
              <a:rPr sz="1200" b="0" i="0">
                <a:solidFill>
                  <a:srgbClr val="1C1F24"/>
                </a:solidFill>
                <a:latin typeface="Calibri"/>
              </a:rPr>
              <a:t>cited findings and gaps</a:t>
            </a:r>
          </a:p>
        </p:txBody>
      </p:sp>
      <p:sp>
        <p:nvSpPr>
          <p:cNvPr id="10" name="Oval 9"/>
          <p:cNvSpPr/>
          <p:nvPr/>
        </p:nvSpPr>
        <p:spPr>
          <a:xfrm>
            <a:off x="731520" y="3291840"/>
            <a:ext cx="274320" cy="274320"/>
          </a:xfrm>
          <a:prstGeom prst="ellipse">
            <a:avLst/>
          </a:prstGeom>
          <a:solidFill>
            <a:srgbClr val="1FA4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11" name="TextBox 10"/>
          <p:cNvSpPr txBox="1"/>
          <p:nvPr/>
        </p:nvSpPr>
        <p:spPr>
          <a:xfrm>
            <a:off x="1097280" y="3246120"/>
            <a:ext cx="2926080" cy="365760"/>
          </a:xfrm>
          <a:prstGeom prst="rect">
            <a:avLst/>
          </a:prstGeom>
          <a:noFill/>
        </p:spPr>
        <p:txBody>
          <a:bodyPr wrap="square" lIns="0" rIns="0" tIns="0" bIns="0" anchor="ctr">
            <a:spAutoFit/>
          </a:bodyPr>
          <a:lstStyle/>
          <a:p>
            <a:pPr algn="l"/>
            <a:r>
              <a:rPr sz="1200" b="0" i="0">
                <a:solidFill>
                  <a:srgbClr val="1C1F24"/>
                </a:solidFill>
                <a:latin typeface="Calibri"/>
              </a:rPr>
              <a:t>investigation memory, feedback</a:t>
            </a:r>
          </a:p>
        </p:txBody>
      </p:sp>
      <p:sp>
        <p:nvSpPr>
          <p:cNvPr id="12" name="Oval 11"/>
          <p:cNvSpPr/>
          <p:nvPr/>
        </p:nvSpPr>
        <p:spPr>
          <a:xfrm>
            <a:off x="731520" y="3749039"/>
            <a:ext cx="274320" cy="274320"/>
          </a:xfrm>
          <a:prstGeom prst="ellipse">
            <a:avLst/>
          </a:prstGeom>
          <a:solidFill>
            <a:srgbClr val="1FA4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13" name="TextBox 12"/>
          <p:cNvSpPr txBox="1"/>
          <p:nvPr/>
        </p:nvSpPr>
        <p:spPr>
          <a:xfrm>
            <a:off x="1097280" y="3703320"/>
            <a:ext cx="2926080" cy="365760"/>
          </a:xfrm>
          <a:prstGeom prst="rect">
            <a:avLst/>
          </a:prstGeom>
          <a:noFill/>
        </p:spPr>
        <p:txBody>
          <a:bodyPr wrap="square" lIns="0" rIns="0" tIns="0" bIns="0" anchor="ctr">
            <a:spAutoFit/>
          </a:bodyPr>
          <a:lstStyle/>
          <a:p>
            <a:pPr algn="l"/>
            <a:r>
              <a:rPr sz="1200" b="0" i="0">
                <a:solidFill>
                  <a:srgbClr val="1C1F24"/>
                </a:solidFill>
                <a:latin typeface="Calibri"/>
              </a:rPr>
              <a:t>failure fallbacks</a:t>
            </a:r>
          </a:p>
        </p:txBody>
      </p:sp>
      <p:sp>
        <p:nvSpPr>
          <p:cNvPr id="14" name="Chevron 13"/>
          <p:cNvSpPr/>
          <p:nvPr/>
        </p:nvSpPr>
        <p:spPr>
          <a:xfrm>
            <a:off x="4297679" y="1325880"/>
            <a:ext cx="3611880" cy="731520"/>
          </a:xfrm>
          <a:prstGeom prst="chevron">
            <a:avLst/>
          </a:prstGeom>
          <a:solidFill>
            <a:srgbClr val="15A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Historical-case pilot</a:t>
            </a:r>
          </a:p>
        </p:txBody>
      </p:sp>
      <p:sp>
        <p:nvSpPr>
          <p:cNvPr id="15" name="Rounded Rectangle 14"/>
          <p:cNvSpPr/>
          <p:nvPr/>
        </p:nvSpPr>
        <p:spPr>
          <a:xfrm>
            <a:off x="4297679" y="2194560"/>
            <a:ext cx="3611880" cy="2011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80559" y="2377440"/>
            <a:ext cx="274320" cy="274320"/>
          </a:xfrm>
          <a:prstGeom prst="ellipse">
            <a:avLst/>
          </a:prstGeom>
          <a:solidFill>
            <a:srgbClr val="15A3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17" name="TextBox 16"/>
          <p:cNvSpPr txBox="1"/>
          <p:nvPr/>
        </p:nvSpPr>
        <p:spPr>
          <a:xfrm>
            <a:off x="4846319" y="2331720"/>
            <a:ext cx="2926080" cy="365760"/>
          </a:xfrm>
          <a:prstGeom prst="rect">
            <a:avLst/>
          </a:prstGeom>
          <a:noFill/>
        </p:spPr>
        <p:txBody>
          <a:bodyPr wrap="square" lIns="0" rIns="0" tIns="0" bIns="0" anchor="ctr">
            <a:spAutoFit/>
          </a:bodyPr>
          <a:lstStyle/>
          <a:p>
            <a:pPr algn="l"/>
            <a:r>
              <a:rPr sz="1200" b="0" i="0">
                <a:solidFill>
                  <a:srgbClr val="1C1F24"/>
                </a:solidFill>
                <a:latin typeface="Calibri"/>
              </a:rPr>
              <a:t>connect real logs, identity, approvals</a:t>
            </a:r>
          </a:p>
        </p:txBody>
      </p:sp>
      <p:sp>
        <p:nvSpPr>
          <p:cNvPr id="18" name="Oval 17"/>
          <p:cNvSpPr/>
          <p:nvPr/>
        </p:nvSpPr>
        <p:spPr>
          <a:xfrm>
            <a:off x="4480559" y="2834640"/>
            <a:ext cx="274320" cy="274320"/>
          </a:xfrm>
          <a:prstGeom prst="ellipse">
            <a:avLst/>
          </a:prstGeom>
          <a:solidFill>
            <a:srgbClr val="15A3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19" name="TextBox 18"/>
          <p:cNvSpPr txBox="1"/>
          <p:nvPr/>
        </p:nvSpPr>
        <p:spPr>
          <a:xfrm>
            <a:off x="4846319" y="2788920"/>
            <a:ext cx="2926080" cy="365760"/>
          </a:xfrm>
          <a:prstGeom prst="rect">
            <a:avLst/>
          </a:prstGeom>
          <a:noFill/>
        </p:spPr>
        <p:txBody>
          <a:bodyPr wrap="square" lIns="0" rIns="0" tIns="0" bIns="0" anchor="ctr">
            <a:spAutoFit/>
          </a:bodyPr>
          <a:lstStyle/>
          <a:p>
            <a:pPr algn="l"/>
            <a:r>
              <a:rPr sz="1200" b="0" i="0">
                <a:solidFill>
                  <a:srgbClr val="1C1F24"/>
                </a:solidFill>
                <a:latin typeface="Calibri"/>
              </a:rPr>
              <a:t>de-identified past investigations</a:t>
            </a:r>
          </a:p>
        </p:txBody>
      </p:sp>
      <p:sp>
        <p:nvSpPr>
          <p:cNvPr id="20" name="Oval 19"/>
          <p:cNvSpPr/>
          <p:nvPr/>
        </p:nvSpPr>
        <p:spPr>
          <a:xfrm>
            <a:off x="4480559" y="3291840"/>
            <a:ext cx="274320" cy="274320"/>
          </a:xfrm>
          <a:prstGeom prst="ellipse">
            <a:avLst/>
          </a:prstGeom>
          <a:solidFill>
            <a:srgbClr val="15A3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21" name="TextBox 20"/>
          <p:cNvSpPr txBox="1"/>
          <p:nvPr/>
        </p:nvSpPr>
        <p:spPr>
          <a:xfrm>
            <a:off x="4846319" y="3246120"/>
            <a:ext cx="2926080" cy="365760"/>
          </a:xfrm>
          <a:prstGeom prst="rect">
            <a:avLst/>
          </a:prstGeom>
          <a:noFill/>
        </p:spPr>
        <p:txBody>
          <a:bodyPr wrap="square" lIns="0" rIns="0" tIns="0" bIns="0" anchor="ctr">
            <a:spAutoFit/>
          </a:bodyPr>
          <a:lstStyle/>
          <a:p>
            <a:pPr algn="l"/>
            <a:r>
              <a:rPr sz="1200" b="0" i="0">
                <a:solidFill>
                  <a:srgbClr val="1C1F24"/>
                </a:solidFill>
                <a:latin typeface="Calibri"/>
              </a:rPr>
              <a:t>measure evidence quality and analyst effort</a:t>
            </a:r>
          </a:p>
        </p:txBody>
      </p:sp>
      <p:sp>
        <p:nvSpPr>
          <p:cNvPr id="22" name="Chevron 21"/>
          <p:cNvSpPr/>
          <p:nvPr/>
        </p:nvSpPr>
        <p:spPr>
          <a:xfrm>
            <a:off x="8046719" y="1325880"/>
            <a:ext cx="3611880" cy="731520"/>
          </a:xfrm>
          <a:prstGeom prst="chevron">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Workflow integration</a:t>
            </a:r>
          </a:p>
        </p:txBody>
      </p:sp>
      <p:sp>
        <p:nvSpPr>
          <p:cNvPr id="23" name="Rounded Rectangle 22"/>
          <p:cNvSpPr/>
          <p:nvPr/>
        </p:nvSpPr>
        <p:spPr>
          <a:xfrm>
            <a:off x="8046719" y="2194560"/>
            <a:ext cx="3611880" cy="2011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29599" y="2377440"/>
            <a:ext cx="274320" cy="2743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25" name="TextBox 24"/>
          <p:cNvSpPr txBox="1"/>
          <p:nvPr/>
        </p:nvSpPr>
        <p:spPr>
          <a:xfrm>
            <a:off x="8595359" y="2331720"/>
            <a:ext cx="2926080" cy="365760"/>
          </a:xfrm>
          <a:prstGeom prst="rect">
            <a:avLst/>
          </a:prstGeom>
          <a:noFill/>
        </p:spPr>
        <p:txBody>
          <a:bodyPr wrap="square" lIns="0" rIns="0" tIns="0" bIns="0" anchor="ctr">
            <a:spAutoFit/>
          </a:bodyPr>
          <a:lstStyle/>
          <a:p>
            <a:pPr algn="l"/>
            <a:r>
              <a:rPr sz="1200" b="0" i="0">
                <a:solidFill>
                  <a:srgbClr val="1C1F24"/>
                </a:solidFill>
                <a:latin typeface="Calibri"/>
              </a:rPr>
              <a:t>case creation and assignment</a:t>
            </a:r>
          </a:p>
        </p:txBody>
      </p:sp>
      <p:sp>
        <p:nvSpPr>
          <p:cNvPr id="26" name="Oval 25"/>
          <p:cNvSpPr/>
          <p:nvPr/>
        </p:nvSpPr>
        <p:spPr>
          <a:xfrm>
            <a:off x="8229599" y="2834640"/>
            <a:ext cx="274320" cy="2743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27" name="TextBox 26"/>
          <p:cNvSpPr txBox="1"/>
          <p:nvPr/>
        </p:nvSpPr>
        <p:spPr>
          <a:xfrm>
            <a:off x="8595359" y="2788920"/>
            <a:ext cx="2926080" cy="365760"/>
          </a:xfrm>
          <a:prstGeom prst="rect">
            <a:avLst/>
          </a:prstGeom>
          <a:noFill/>
        </p:spPr>
        <p:txBody>
          <a:bodyPr wrap="square" lIns="0" rIns="0" tIns="0" bIns="0" anchor="ctr">
            <a:spAutoFit/>
          </a:bodyPr>
          <a:lstStyle/>
          <a:p>
            <a:pPr algn="l"/>
            <a:r>
              <a:rPr sz="1200" b="0" i="0">
                <a:solidFill>
                  <a:srgbClr val="1C1F24"/>
                </a:solidFill>
                <a:latin typeface="Calibri"/>
              </a:rPr>
              <a:t>evidence-pack write-back</a:t>
            </a:r>
          </a:p>
        </p:txBody>
      </p:sp>
      <p:sp>
        <p:nvSpPr>
          <p:cNvPr id="28" name="Oval 27"/>
          <p:cNvSpPr/>
          <p:nvPr/>
        </p:nvSpPr>
        <p:spPr>
          <a:xfrm>
            <a:off x="8229599" y="3291840"/>
            <a:ext cx="274320" cy="274320"/>
          </a:xfrm>
          <a:prstGeom prst="ellipse">
            <a:avLst/>
          </a:prstGeom>
          <a:solidFill>
            <a:srgbClr val="6B4F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t>
            </a:r>
          </a:p>
        </p:txBody>
      </p:sp>
      <p:sp>
        <p:nvSpPr>
          <p:cNvPr id="29" name="TextBox 28"/>
          <p:cNvSpPr txBox="1"/>
          <p:nvPr/>
        </p:nvSpPr>
        <p:spPr>
          <a:xfrm>
            <a:off x="8595359" y="3246120"/>
            <a:ext cx="2926080" cy="365760"/>
          </a:xfrm>
          <a:prstGeom prst="rect">
            <a:avLst/>
          </a:prstGeom>
          <a:noFill/>
        </p:spPr>
        <p:txBody>
          <a:bodyPr wrap="square" lIns="0" rIns="0" tIns="0" bIns="0" anchor="ctr">
            <a:spAutoFit/>
          </a:bodyPr>
          <a:lstStyle/>
          <a:p>
            <a:pPr algn="l"/>
            <a:r>
              <a:rPr sz="1200" b="0" i="0">
                <a:solidFill>
                  <a:srgbClr val="1C1F24"/>
                </a:solidFill>
                <a:latin typeface="Calibri"/>
              </a:rPr>
              <a:t>more alert families on the same loop</a:t>
            </a:r>
          </a:p>
        </p:txBody>
      </p:sp>
      <p:sp>
        <p:nvSpPr>
          <p:cNvPr id="30" name="Rounded Rectangle 29"/>
          <p:cNvSpPr/>
          <p:nvPr/>
        </p:nvSpPr>
        <p:spPr>
          <a:xfrm>
            <a:off x="548640" y="4434840"/>
            <a:ext cx="1106424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526280"/>
            <a:ext cx="2743200" cy="365760"/>
          </a:xfrm>
          <a:prstGeom prst="rect">
            <a:avLst/>
          </a:prstGeom>
          <a:noFill/>
        </p:spPr>
        <p:txBody>
          <a:bodyPr wrap="square" lIns="0" rIns="0" tIns="0" bIns="0" anchor="t">
            <a:spAutoFit/>
          </a:bodyPr>
          <a:lstStyle/>
          <a:p>
            <a:pPr algn="l"/>
            <a:r>
              <a:rPr sz="1100" b="1" i="0">
                <a:solidFill>
                  <a:srgbClr val="5B6470"/>
                </a:solidFill>
                <a:latin typeface="Calibri"/>
              </a:rPr>
              <a:t>PILOT INVITATION</a:t>
            </a:r>
          </a:p>
        </p:txBody>
      </p:sp>
      <p:sp>
        <p:nvSpPr>
          <p:cNvPr id="32" name="TextBox 31"/>
          <p:cNvSpPr txBox="1"/>
          <p:nvPr/>
        </p:nvSpPr>
        <p:spPr>
          <a:xfrm>
            <a:off x="2926080" y="4526280"/>
            <a:ext cx="8503920" cy="365760"/>
          </a:xfrm>
          <a:prstGeom prst="rect">
            <a:avLst/>
          </a:prstGeom>
          <a:noFill/>
        </p:spPr>
        <p:txBody>
          <a:bodyPr wrap="square" lIns="0" rIns="0" tIns="0" bIns="0" anchor="t">
            <a:spAutoFit/>
          </a:bodyPr>
          <a:lstStyle/>
          <a:p>
            <a:pPr algn="l"/>
            <a:r>
              <a:rPr sz="1200" b="0" i="0">
                <a:solidFill>
                  <a:srgbClr val="5B6470"/>
                </a:solidFill>
                <a:latin typeface="Calibri"/>
              </a:rPr>
              <a:t>choose one export-alert workflow and evaluate together</a:t>
            </a:r>
          </a:p>
        </p:txBody>
      </p:sp>
      <p:sp>
        <p:nvSpPr>
          <p:cNvPr id="33" name="Oval 32"/>
          <p:cNvSpPr/>
          <p:nvPr/>
        </p:nvSpPr>
        <p:spPr>
          <a:xfrm>
            <a:off x="777240" y="4983480"/>
            <a:ext cx="457200" cy="4572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34" name="TextBox 33"/>
          <p:cNvSpPr txBox="1"/>
          <p:nvPr/>
        </p:nvSpPr>
        <p:spPr>
          <a:xfrm>
            <a:off x="1371600" y="4983480"/>
            <a:ext cx="2926080" cy="457200"/>
          </a:xfrm>
          <a:prstGeom prst="rect">
            <a:avLst/>
          </a:prstGeom>
          <a:noFill/>
        </p:spPr>
        <p:txBody>
          <a:bodyPr wrap="square" lIns="0" rIns="0" tIns="0" bIns="0" anchor="ctr">
            <a:spAutoFit/>
          </a:bodyPr>
          <a:lstStyle/>
          <a:p>
            <a:pPr algn="l"/>
            <a:r>
              <a:rPr sz="1400" b="1" i="0">
                <a:solidFill>
                  <a:srgbClr val="1C1F24"/>
                </a:solidFill>
                <a:latin typeface="Calibri"/>
              </a:rPr>
              <a:t>Can the evidence be found?</a:t>
            </a:r>
          </a:p>
        </p:txBody>
      </p:sp>
      <p:sp>
        <p:nvSpPr>
          <p:cNvPr id="35" name="Oval 34"/>
          <p:cNvSpPr/>
          <p:nvPr/>
        </p:nvSpPr>
        <p:spPr>
          <a:xfrm>
            <a:off x="4389120" y="4983480"/>
            <a:ext cx="457200" cy="4572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36" name="TextBox 35"/>
          <p:cNvSpPr txBox="1"/>
          <p:nvPr/>
        </p:nvSpPr>
        <p:spPr>
          <a:xfrm>
            <a:off x="4983480" y="4983480"/>
            <a:ext cx="2926080" cy="457200"/>
          </a:xfrm>
          <a:prstGeom prst="rect">
            <a:avLst/>
          </a:prstGeom>
          <a:noFill/>
        </p:spPr>
        <p:txBody>
          <a:bodyPr wrap="square" lIns="0" rIns="0" tIns="0" bIns="0" anchor="ctr">
            <a:spAutoFit/>
          </a:bodyPr>
          <a:lstStyle/>
          <a:p>
            <a:pPr algn="l"/>
            <a:r>
              <a:rPr sz="1400" b="1" i="0">
                <a:solidFill>
                  <a:srgbClr val="1C1F24"/>
                </a:solidFill>
                <a:latin typeface="Calibri"/>
              </a:rPr>
              <a:t>Can the finding be checked?</a:t>
            </a:r>
          </a:p>
        </p:txBody>
      </p:sp>
      <p:sp>
        <p:nvSpPr>
          <p:cNvPr id="37" name="Oval 36"/>
          <p:cNvSpPr/>
          <p:nvPr/>
        </p:nvSpPr>
        <p:spPr>
          <a:xfrm>
            <a:off x="8001000" y="4983480"/>
            <a:ext cx="457200" cy="4572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t>
            </a:r>
          </a:p>
        </p:txBody>
      </p:sp>
      <p:sp>
        <p:nvSpPr>
          <p:cNvPr id="38" name="TextBox 37"/>
          <p:cNvSpPr txBox="1"/>
          <p:nvPr/>
        </p:nvSpPr>
        <p:spPr>
          <a:xfrm>
            <a:off x="8595360" y="4983480"/>
            <a:ext cx="2926080" cy="457200"/>
          </a:xfrm>
          <a:prstGeom prst="rect">
            <a:avLst/>
          </a:prstGeom>
          <a:noFill/>
        </p:spPr>
        <p:txBody>
          <a:bodyPr wrap="square" lIns="0" rIns="0" tIns="0" bIns="0" anchor="ctr">
            <a:spAutoFit/>
          </a:bodyPr>
          <a:lstStyle/>
          <a:p>
            <a:pPr algn="l"/>
            <a:r>
              <a:rPr sz="1400" b="1" i="0">
                <a:solidFill>
                  <a:srgbClr val="1C1F24"/>
                </a:solidFill>
                <a:latin typeface="Calibri"/>
              </a:rPr>
              <a:t>Does the next step help the analyst?</a:t>
            </a:r>
          </a:p>
        </p:txBody>
      </p:sp>
      <p:sp>
        <p:nvSpPr>
          <p:cNvPr id="39" name="TextBox 38"/>
          <p:cNvSpPr txBox="1"/>
          <p:nvPr/>
        </p:nvSpPr>
        <p:spPr>
          <a:xfrm>
            <a:off x="548640" y="5852160"/>
            <a:ext cx="11064240" cy="640080"/>
          </a:xfrm>
          <a:prstGeom prst="rect">
            <a:avLst/>
          </a:prstGeom>
          <a:noFill/>
        </p:spPr>
        <p:txBody>
          <a:bodyPr wrap="square" lIns="0" rIns="0" tIns="0" bIns="0" anchor="ctr">
            <a:spAutoFit/>
          </a:bodyPr>
          <a:lstStyle/>
          <a:p>
            <a:pPr algn="l"/>
            <a:r>
              <a:rPr sz="2000" b="1" i="0">
                <a:solidFill>
                  <a:srgbClr val="FFFFFF"/>
                </a:solidFill>
                <a:latin typeface="Calibri"/>
              </a:rPr>
              <a:t>ExportWhy  </a:t>
            </a:r>
            <a:r>
              <a:rPr sz="1600" b="0" i="0">
                <a:solidFill>
                  <a:srgbClr val="CADCFC"/>
                </a:solidFill>
                <a:latin typeface="Calibri"/>
              </a:rPr>
              <a:t>authorisation decisions with evidence and visible gaps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